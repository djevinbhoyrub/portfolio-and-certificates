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26"/>
        </a:solidFill>
      </p:bgPr>
    </p:bg>
    <p:spTree>
      <p:nvGrpSpPr>
        <p:cNvPr id="1" name=""/>
        <p:cNvGrpSpPr/>
        <p:nvPr/>
      </p:nvGrpSpPr>
      <p:grpSpPr>
        <a:xfrm>
          <a:off x="0" y="0"/>
          <a:ext cx="0" cy="0"/>
          <a:chOff x="0" y="0"/>
          <a:chExt cx="0" cy="0"/>
        </a:xfrm>
      </p:grpSpPr>
      <p:sp>
        <p:nvSpPr>
          <p:cNvPr id="2" name="Shape 0"/>
          <p:cNvSpPr/>
          <p:nvPr/>
        </p:nvSpPr>
        <p:spPr>
          <a:xfrm>
            <a:off x="8229600" y="-1828800"/>
            <a:ext cx="6035040" cy="6035040"/>
          </a:xfrm>
          <a:prstGeom prst="ellipse">
            <a:avLst/>
          </a:prstGeom>
          <a:solidFill>
            <a:srgbClr val="12213D"/>
          </a:solidFill>
          <a:ln/>
        </p:spPr>
      </p:sp>
      <p:sp>
        <p:nvSpPr>
          <p:cNvPr id="3" name="Shape 1"/>
          <p:cNvSpPr/>
          <p:nvPr/>
        </p:nvSpPr>
        <p:spPr>
          <a:xfrm>
            <a:off x="9144000" y="-914400"/>
            <a:ext cx="4206240" cy="4206240"/>
          </a:xfrm>
          <a:prstGeom prst="ellipse">
            <a:avLst/>
          </a:prstGeom>
          <a:ln w="15875">
            <a:solidFill>
              <a:srgbClr val="3A86FF"/>
            </a:solidFill>
            <a:prstDash val="solid"/>
          </a:ln>
        </p:spPr>
      </p:sp>
      <p:sp>
        <p:nvSpPr>
          <p:cNvPr id="4" name="Shape 2"/>
          <p:cNvSpPr/>
          <p:nvPr/>
        </p:nvSpPr>
        <p:spPr>
          <a:xfrm>
            <a:off x="9692640" y="-365760"/>
            <a:ext cx="3108960" cy="3108960"/>
          </a:xfrm>
          <a:prstGeom prst="ellipse">
            <a:avLst/>
          </a:prstGeom>
          <a:ln w="12700">
            <a:solidFill>
              <a:srgbClr val="3A86FF"/>
            </a:solidFill>
            <a:prstDash val="solid"/>
          </a:ln>
        </p:spPr>
      </p:sp>
      <p:sp>
        <p:nvSpPr>
          <p:cNvPr id="5" name="Shape 3"/>
          <p:cNvSpPr/>
          <p:nvPr/>
        </p:nvSpPr>
        <p:spPr>
          <a:xfrm>
            <a:off x="10332720" y="274320"/>
            <a:ext cx="1828800" cy="1828800"/>
          </a:xfrm>
          <a:prstGeom prst="ellipse">
            <a:avLst/>
          </a:prstGeom>
          <a:solidFill>
            <a:srgbClr val="E63946"/>
          </a:solidFill>
          <a:ln/>
        </p:spPr>
      </p:sp>
      <p:sp>
        <p:nvSpPr>
          <p:cNvPr id="6" name="Shape 4"/>
          <p:cNvSpPr/>
          <p:nvPr/>
        </p:nvSpPr>
        <p:spPr>
          <a:xfrm>
            <a:off x="10927080" y="868680"/>
            <a:ext cx="640080" cy="640080"/>
          </a:xfrm>
          <a:prstGeom prst="ellipse">
            <a:avLst/>
          </a:prstGeom>
          <a:solidFill>
            <a:srgbClr val="FFFFFF"/>
          </a:solidFill>
          <a:ln/>
        </p:spPr>
      </p:sp>
      <p:sp>
        <p:nvSpPr>
          <p:cNvPr id="7" name="Text 5"/>
          <p:cNvSpPr/>
          <p:nvPr/>
        </p:nvSpPr>
        <p:spPr>
          <a:xfrm>
            <a:off x="640080" y="1874520"/>
            <a:ext cx="8686800" cy="365760"/>
          </a:xfrm>
          <a:prstGeom prst="rect">
            <a:avLst/>
          </a:prstGeom>
          <a:noFill/>
          <a:ln/>
        </p:spPr>
        <p:txBody>
          <a:bodyPr wrap="square" lIns="0" tIns="0" rIns="0" bIns="0" rtlCol="0" anchor="ctr"/>
          <a:lstStyle/>
          <a:p>
            <a:pPr indent="0" marL="0">
              <a:buNone/>
            </a:pPr>
            <a:r>
              <a:rPr lang="en-US" sz="1400" b="1" spc="300" kern="0" dirty="0">
                <a:solidFill>
                  <a:srgbClr val="3A86FF"/>
                </a:solidFill>
                <a:latin typeface="Calibri" pitchFamily="34" charset="0"/>
                <a:ea typeface="Calibri" pitchFamily="34" charset="-122"/>
                <a:cs typeface="Calibri" pitchFamily="34" charset="-120"/>
              </a:rPr>
              <a:t>IoT / SMART HOME ENGINEERING PROJECT</a:t>
            </a:r>
            <a:endParaRPr lang="en-US" sz="1400" dirty="0"/>
          </a:p>
        </p:txBody>
      </p:sp>
      <p:sp>
        <p:nvSpPr>
          <p:cNvPr id="8" name="Text 6"/>
          <p:cNvSpPr/>
          <p:nvPr/>
        </p:nvSpPr>
        <p:spPr>
          <a:xfrm>
            <a:off x="594360" y="2286000"/>
            <a:ext cx="9875520" cy="192024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IoT-Based Home Security</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and Surveillance System</a:t>
            </a:r>
            <a:endParaRPr lang="en-US" sz="4600" dirty="0"/>
          </a:p>
        </p:txBody>
      </p:sp>
      <p:sp>
        <p:nvSpPr>
          <p:cNvPr id="9" name="Text 7"/>
          <p:cNvSpPr/>
          <p:nvPr/>
        </p:nvSpPr>
        <p:spPr>
          <a:xfrm>
            <a:off x="640080" y="4251960"/>
            <a:ext cx="8229600" cy="54864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Real-time intrusion, gas-leak, and fire detection with automated safety response</a:t>
            </a:r>
            <a:endParaRPr lang="en-US" sz="1600" dirty="0"/>
          </a:p>
        </p:txBody>
      </p:sp>
      <p:sp>
        <p:nvSpPr>
          <p:cNvPr id="10" name="Shape 8"/>
          <p:cNvSpPr/>
          <p:nvPr/>
        </p:nvSpPr>
        <p:spPr>
          <a:xfrm>
            <a:off x="640080" y="4983480"/>
            <a:ext cx="2011680" cy="0"/>
          </a:xfrm>
          <a:prstGeom prst="line">
            <a:avLst/>
          </a:prstGeom>
          <a:noFill/>
          <a:ln w="38100">
            <a:solidFill>
              <a:srgbClr val="E63946"/>
            </a:solidFill>
            <a:prstDash val="solid"/>
          </a:ln>
        </p:spPr>
      </p:sp>
      <p:sp>
        <p:nvSpPr>
          <p:cNvPr id="11" name="Text 9"/>
          <p:cNvSpPr/>
          <p:nvPr/>
        </p:nvSpPr>
        <p:spPr>
          <a:xfrm>
            <a:off x="640080" y="5212080"/>
            <a:ext cx="7315200" cy="822960"/>
          </a:xfrm>
          <a:prstGeom prst="rect">
            <a:avLst/>
          </a:prstGeom>
          <a:noFill/>
          <a:ln/>
        </p:spPr>
        <p:txBody>
          <a:bodyPr wrap="square" lIns="0" tIns="0" rIns="0" bIns="0" rtlCol="0" anchor="ctr"/>
          <a:lstStyle/>
          <a:p>
            <a:pPr indent="0" marL="0">
              <a:lnSpc>
                <a:spcPct val="130000"/>
              </a:lnSpc>
              <a:buNone/>
            </a:pPr>
            <a:r>
              <a:rPr lang="en-US" sz="1500" b="1" dirty="0">
                <a:solidFill>
                  <a:srgbClr val="FFFFFF"/>
                </a:solidFill>
                <a:latin typeface="Calibri" pitchFamily="34" charset="0"/>
                <a:ea typeface="Calibri" pitchFamily="34" charset="-122"/>
                <a:cs typeface="Calibri" pitchFamily="34" charset="-120"/>
              </a:rPr>
              <a:t>Reelesh Ganesh Bhoyrub</a:t>
            </a:r>
            <a:endParaRPr lang="en-US" sz="1500" dirty="0"/>
          </a:p>
          <a:p>
            <a:pPr indent="0" marL="0">
              <a:lnSpc>
                <a:spcPct val="130000"/>
              </a:lnSpc>
              <a:buNone/>
            </a:pPr>
            <a:r>
              <a:rPr lang="en-US" sz="1500" dirty="0">
                <a:solidFill>
                  <a:srgbClr val="CADCFC"/>
                </a:solidFill>
                <a:latin typeface="Calibri" pitchFamily="34" charset="0"/>
                <a:ea typeface="Calibri" pitchFamily="34" charset="-122"/>
                <a:cs typeface="Calibri" pitchFamily="34" charset="-120"/>
              </a:rPr>
              <a:t>Cohort IoT 7  •  Polytechnics Mauritius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What We'll Cover</a:t>
            </a:r>
            <a:endParaRPr lang="en-US" sz="3200" dirty="0"/>
          </a:p>
        </p:txBody>
      </p:sp>
      <p:sp>
        <p:nvSpPr>
          <p:cNvPr id="4" name="Text 2"/>
          <p:cNvSpPr/>
          <p:nvPr/>
        </p:nvSpPr>
        <p:spPr>
          <a:xfrm>
            <a:off x="548640" y="1783080"/>
            <a:ext cx="822960" cy="822960"/>
          </a:xfrm>
          <a:prstGeom prst="rect">
            <a:avLst/>
          </a:prstGeom>
          <a:noFill/>
          <a:ln/>
        </p:spPr>
        <p:txBody>
          <a:bodyPr wrap="square" lIns="0" tIns="0" rIns="0" bIns="0" rtlCol="0" anchor="ctr"/>
          <a:lstStyle/>
          <a:p>
            <a:pPr algn="l" indent="0" marL="0">
              <a:buNone/>
            </a:pPr>
            <a:r>
              <a:rPr lang="en-US" sz="2600" b="1" dirty="0">
                <a:solidFill>
                  <a:srgbClr val="3A86FF"/>
                </a:solidFill>
                <a:latin typeface="Cambria" pitchFamily="34" charset="0"/>
                <a:ea typeface="Cambria" pitchFamily="34" charset="-122"/>
                <a:cs typeface="Cambria" pitchFamily="34" charset="-120"/>
              </a:rPr>
              <a:t>01</a:t>
            </a:r>
            <a:endParaRPr lang="en-US" sz="2600" dirty="0"/>
          </a:p>
        </p:txBody>
      </p:sp>
      <p:sp>
        <p:nvSpPr>
          <p:cNvPr id="5" name="Text 3"/>
          <p:cNvSpPr/>
          <p:nvPr/>
        </p:nvSpPr>
        <p:spPr>
          <a:xfrm>
            <a:off x="1325880" y="1783080"/>
            <a:ext cx="457200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Why Home Safety Matters</a:t>
            </a:r>
            <a:endParaRPr lang="en-US" sz="1500" dirty="0"/>
          </a:p>
        </p:txBody>
      </p:sp>
      <p:sp>
        <p:nvSpPr>
          <p:cNvPr id="6" name="Text 4"/>
          <p:cNvSpPr/>
          <p:nvPr/>
        </p:nvSpPr>
        <p:spPr>
          <a:xfrm>
            <a:off x="1325880" y="2167128"/>
            <a:ext cx="457200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The real-world case for automated protection</a:t>
            </a:r>
            <a:endParaRPr lang="en-US" sz="1150" dirty="0"/>
          </a:p>
        </p:txBody>
      </p:sp>
      <p:sp>
        <p:nvSpPr>
          <p:cNvPr id="7" name="Text 5"/>
          <p:cNvSpPr/>
          <p:nvPr/>
        </p:nvSpPr>
        <p:spPr>
          <a:xfrm>
            <a:off x="548640" y="2834640"/>
            <a:ext cx="822960" cy="822960"/>
          </a:xfrm>
          <a:prstGeom prst="rect">
            <a:avLst/>
          </a:prstGeom>
          <a:noFill/>
          <a:ln/>
        </p:spPr>
        <p:txBody>
          <a:bodyPr wrap="square" lIns="0" tIns="0" rIns="0" bIns="0" rtlCol="0" anchor="ctr"/>
          <a:lstStyle/>
          <a:p>
            <a:pPr algn="l" indent="0" marL="0">
              <a:buNone/>
            </a:pPr>
            <a:r>
              <a:rPr lang="en-US" sz="2600" b="1" dirty="0">
                <a:solidFill>
                  <a:srgbClr val="3A86FF"/>
                </a:solidFill>
                <a:latin typeface="Cambria" pitchFamily="34" charset="0"/>
                <a:ea typeface="Cambria" pitchFamily="34" charset="-122"/>
                <a:cs typeface="Cambria" pitchFamily="34" charset="-120"/>
              </a:rPr>
              <a:t>02</a:t>
            </a:r>
            <a:endParaRPr lang="en-US" sz="2600" dirty="0"/>
          </a:p>
        </p:txBody>
      </p:sp>
      <p:sp>
        <p:nvSpPr>
          <p:cNvPr id="8" name="Text 6"/>
          <p:cNvSpPr/>
          <p:nvPr/>
        </p:nvSpPr>
        <p:spPr>
          <a:xfrm>
            <a:off x="1325880" y="2834640"/>
            <a:ext cx="457200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Evidence It Saves Lives</a:t>
            </a:r>
            <a:endParaRPr lang="en-US" sz="1500" dirty="0"/>
          </a:p>
        </p:txBody>
      </p:sp>
      <p:sp>
        <p:nvSpPr>
          <p:cNvPr id="9" name="Text 7"/>
          <p:cNvSpPr/>
          <p:nvPr/>
        </p:nvSpPr>
        <p:spPr>
          <a:xfrm>
            <a:off x="1325880" y="3218688"/>
            <a:ext cx="457200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Fire, gas, and burglary data</a:t>
            </a:r>
            <a:endParaRPr lang="en-US" sz="1150" dirty="0"/>
          </a:p>
        </p:txBody>
      </p:sp>
      <p:sp>
        <p:nvSpPr>
          <p:cNvPr id="10" name="Text 8"/>
          <p:cNvSpPr/>
          <p:nvPr/>
        </p:nvSpPr>
        <p:spPr>
          <a:xfrm>
            <a:off x="548640" y="3886200"/>
            <a:ext cx="822960" cy="822960"/>
          </a:xfrm>
          <a:prstGeom prst="rect">
            <a:avLst/>
          </a:prstGeom>
          <a:noFill/>
          <a:ln/>
        </p:spPr>
        <p:txBody>
          <a:bodyPr wrap="square" lIns="0" tIns="0" rIns="0" bIns="0" rtlCol="0" anchor="ctr"/>
          <a:lstStyle/>
          <a:p>
            <a:pPr algn="l" indent="0" marL="0">
              <a:buNone/>
            </a:pPr>
            <a:r>
              <a:rPr lang="en-US" sz="2600" b="1" dirty="0">
                <a:solidFill>
                  <a:srgbClr val="3A86FF"/>
                </a:solidFill>
                <a:latin typeface="Cambria" pitchFamily="34" charset="0"/>
                <a:ea typeface="Cambria" pitchFamily="34" charset="-122"/>
                <a:cs typeface="Cambria" pitchFamily="34" charset="-120"/>
              </a:rPr>
              <a:t>03</a:t>
            </a:r>
            <a:endParaRPr lang="en-US" sz="2600" dirty="0"/>
          </a:p>
        </p:txBody>
      </p:sp>
      <p:sp>
        <p:nvSpPr>
          <p:cNvPr id="11" name="Text 9"/>
          <p:cNvSpPr/>
          <p:nvPr/>
        </p:nvSpPr>
        <p:spPr>
          <a:xfrm>
            <a:off x="1325880" y="3886200"/>
            <a:ext cx="457200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System Components</a:t>
            </a:r>
            <a:endParaRPr lang="en-US" sz="1500" dirty="0"/>
          </a:p>
        </p:txBody>
      </p:sp>
      <p:sp>
        <p:nvSpPr>
          <p:cNvPr id="12" name="Text 10"/>
          <p:cNvSpPr/>
          <p:nvPr/>
        </p:nvSpPr>
        <p:spPr>
          <a:xfrm>
            <a:off x="1325880" y="4270248"/>
            <a:ext cx="457200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Sensors, actuators, and control hardware</a:t>
            </a:r>
            <a:endParaRPr lang="en-US" sz="1150" dirty="0"/>
          </a:p>
        </p:txBody>
      </p:sp>
      <p:sp>
        <p:nvSpPr>
          <p:cNvPr id="13" name="Text 11"/>
          <p:cNvSpPr/>
          <p:nvPr/>
        </p:nvSpPr>
        <p:spPr>
          <a:xfrm>
            <a:off x="548640" y="4937760"/>
            <a:ext cx="822960" cy="822960"/>
          </a:xfrm>
          <a:prstGeom prst="rect">
            <a:avLst/>
          </a:prstGeom>
          <a:noFill/>
          <a:ln/>
        </p:spPr>
        <p:txBody>
          <a:bodyPr wrap="square" lIns="0" tIns="0" rIns="0" bIns="0" rtlCol="0" anchor="ctr"/>
          <a:lstStyle/>
          <a:p>
            <a:pPr algn="l" indent="0" marL="0">
              <a:buNone/>
            </a:pPr>
            <a:r>
              <a:rPr lang="en-US" sz="2600" b="1" dirty="0">
                <a:solidFill>
                  <a:srgbClr val="3A86FF"/>
                </a:solidFill>
                <a:latin typeface="Cambria" pitchFamily="34" charset="0"/>
                <a:ea typeface="Cambria" pitchFamily="34" charset="-122"/>
                <a:cs typeface="Cambria" pitchFamily="34" charset="-120"/>
              </a:rPr>
              <a:t>04</a:t>
            </a:r>
            <a:endParaRPr lang="en-US" sz="2600" dirty="0"/>
          </a:p>
        </p:txBody>
      </p:sp>
      <p:sp>
        <p:nvSpPr>
          <p:cNvPr id="14" name="Text 12"/>
          <p:cNvSpPr/>
          <p:nvPr/>
        </p:nvSpPr>
        <p:spPr>
          <a:xfrm>
            <a:off x="1325880" y="4937760"/>
            <a:ext cx="457200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System Architecture</a:t>
            </a:r>
            <a:endParaRPr lang="en-US" sz="1500" dirty="0"/>
          </a:p>
        </p:txBody>
      </p:sp>
      <p:sp>
        <p:nvSpPr>
          <p:cNvPr id="15" name="Text 13"/>
          <p:cNvSpPr/>
          <p:nvPr/>
        </p:nvSpPr>
        <p:spPr>
          <a:xfrm>
            <a:off x="1325880" y="5321808"/>
            <a:ext cx="457200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How every part communicates</a:t>
            </a:r>
            <a:endParaRPr lang="en-US" sz="1150" dirty="0"/>
          </a:p>
        </p:txBody>
      </p:sp>
      <p:sp>
        <p:nvSpPr>
          <p:cNvPr id="16" name="Text 14"/>
          <p:cNvSpPr/>
          <p:nvPr/>
        </p:nvSpPr>
        <p:spPr>
          <a:xfrm>
            <a:off x="6309360" y="1783080"/>
            <a:ext cx="822960" cy="822960"/>
          </a:xfrm>
          <a:prstGeom prst="rect">
            <a:avLst/>
          </a:prstGeom>
          <a:noFill/>
          <a:ln/>
        </p:spPr>
        <p:txBody>
          <a:bodyPr wrap="square" lIns="0" tIns="0" rIns="0" bIns="0" rtlCol="0" anchor="ctr"/>
          <a:lstStyle/>
          <a:p>
            <a:pPr algn="l" indent="0" marL="0">
              <a:buNone/>
            </a:pPr>
            <a:r>
              <a:rPr lang="en-US" sz="2600" b="1" dirty="0">
                <a:solidFill>
                  <a:srgbClr val="3A86FF"/>
                </a:solidFill>
                <a:latin typeface="Cambria" pitchFamily="34" charset="0"/>
                <a:ea typeface="Cambria" pitchFamily="34" charset="-122"/>
                <a:cs typeface="Cambria" pitchFamily="34" charset="-120"/>
              </a:rPr>
              <a:t>05</a:t>
            </a:r>
            <a:endParaRPr lang="en-US" sz="2600" dirty="0"/>
          </a:p>
        </p:txBody>
      </p:sp>
      <p:sp>
        <p:nvSpPr>
          <p:cNvPr id="17" name="Text 15"/>
          <p:cNvSpPr/>
          <p:nvPr/>
        </p:nvSpPr>
        <p:spPr>
          <a:xfrm>
            <a:off x="7086600" y="1783080"/>
            <a:ext cx="457200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Wiring Walkthrough</a:t>
            </a:r>
            <a:endParaRPr lang="en-US" sz="1500" dirty="0"/>
          </a:p>
        </p:txBody>
      </p:sp>
      <p:sp>
        <p:nvSpPr>
          <p:cNvPr id="18" name="Text 16"/>
          <p:cNvSpPr/>
          <p:nvPr/>
        </p:nvSpPr>
        <p:spPr>
          <a:xfrm>
            <a:off x="7086600" y="2167128"/>
            <a:ext cx="457200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Five states, straight from the Tinkercad build</a:t>
            </a:r>
            <a:endParaRPr lang="en-US" sz="1150" dirty="0"/>
          </a:p>
        </p:txBody>
      </p:sp>
      <p:sp>
        <p:nvSpPr>
          <p:cNvPr id="19" name="Text 17"/>
          <p:cNvSpPr/>
          <p:nvPr/>
        </p:nvSpPr>
        <p:spPr>
          <a:xfrm>
            <a:off x="6309360" y="2834640"/>
            <a:ext cx="822960" cy="822960"/>
          </a:xfrm>
          <a:prstGeom prst="rect">
            <a:avLst/>
          </a:prstGeom>
          <a:noFill/>
          <a:ln/>
        </p:spPr>
        <p:txBody>
          <a:bodyPr wrap="square" lIns="0" tIns="0" rIns="0" bIns="0" rtlCol="0" anchor="ctr"/>
          <a:lstStyle/>
          <a:p>
            <a:pPr algn="l" indent="0" marL="0">
              <a:buNone/>
            </a:pPr>
            <a:r>
              <a:rPr lang="en-US" sz="2600" b="1" dirty="0">
                <a:solidFill>
                  <a:srgbClr val="3A86FF"/>
                </a:solidFill>
                <a:latin typeface="Cambria" pitchFamily="34" charset="0"/>
                <a:ea typeface="Cambria" pitchFamily="34" charset="-122"/>
                <a:cs typeface="Cambria" pitchFamily="34" charset="-120"/>
              </a:rPr>
              <a:t>06</a:t>
            </a:r>
            <a:endParaRPr lang="en-US" sz="2600" dirty="0"/>
          </a:p>
        </p:txBody>
      </p:sp>
      <p:sp>
        <p:nvSpPr>
          <p:cNvPr id="20" name="Text 18"/>
          <p:cNvSpPr/>
          <p:nvPr/>
        </p:nvSpPr>
        <p:spPr>
          <a:xfrm>
            <a:off x="7086600" y="2834640"/>
            <a:ext cx="457200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Decision Logic</a:t>
            </a:r>
            <a:endParaRPr lang="en-US" sz="1500" dirty="0"/>
          </a:p>
        </p:txBody>
      </p:sp>
      <p:sp>
        <p:nvSpPr>
          <p:cNvPr id="21" name="Text 19"/>
          <p:cNvSpPr/>
          <p:nvPr/>
        </p:nvSpPr>
        <p:spPr>
          <a:xfrm>
            <a:off x="7086600" y="3218688"/>
            <a:ext cx="457200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How the Arduino prioritizes hazards</a:t>
            </a:r>
            <a:endParaRPr lang="en-US" sz="1150" dirty="0"/>
          </a:p>
        </p:txBody>
      </p:sp>
      <p:sp>
        <p:nvSpPr>
          <p:cNvPr id="22" name="Text 20"/>
          <p:cNvSpPr/>
          <p:nvPr/>
        </p:nvSpPr>
        <p:spPr>
          <a:xfrm>
            <a:off x="6309360" y="3886200"/>
            <a:ext cx="822960" cy="822960"/>
          </a:xfrm>
          <a:prstGeom prst="rect">
            <a:avLst/>
          </a:prstGeom>
          <a:noFill/>
          <a:ln/>
        </p:spPr>
        <p:txBody>
          <a:bodyPr wrap="square" lIns="0" tIns="0" rIns="0" bIns="0" rtlCol="0" anchor="ctr"/>
          <a:lstStyle/>
          <a:p>
            <a:pPr algn="l" indent="0" marL="0">
              <a:buNone/>
            </a:pPr>
            <a:r>
              <a:rPr lang="en-US" sz="2600" b="1" dirty="0">
                <a:solidFill>
                  <a:srgbClr val="3A86FF"/>
                </a:solidFill>
                <a:latin typeface="Cambria" pitchFamily="34" charset="0"/>
                <a:ea typeface="Cambria" pitchFamily="34" charset="-122"/>
                <a:cs typeface="Cambria" pitchFamily="34" charset="-120"/>
              </a:rPr>
              <a:t>07</a:t>
            </a:r>
            <a:endParaRPr lang="en-US" sz="2600" dirty="0"/>
          </a:p>
        </p:txBody>
      </p:sp>
      <p:sp>
        <p:nvSpPr>
          <p:cNvPr id="23" name="Text 21"/>
          <p:cNvSpPr/>
          <p:nvPr/>
        </p:nvSpPr>
        <p:spPr>
          <a:xfrm>
            <a:off x="7086600" y="3886200"/>
            <a:ext cx="457200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Future IoT Upgrades</a:t>
            </a:r>
            <a:endParaRPr lang="en-US" sz="1500" dirty="0"/>
          </a:p>
        </p:txBody>
      </p:sp>
      <p:sp>
        <p:nvSpPr>
          <p:cNvPr id="24" name="Text 22"/>
          <p:cNvSpPr/>
          <p:nvPr/>
        </p:nvSpPr>
        <p:spPr>
          <a:xfrm>
            <a:off x="7086600" y="4270248"/>
            <a:ext cx="457200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Where this project can go next</a:t>
            </a:r>
            <a:endParaRPr lang="en-US" sz="1150" dirty="0"/>
          </a:p>
        </p:txBody>
      </p:sp>
      <p:sp>
        <p:nvSpPr>
          <p:cNvPr id="25" name="Text 23"/>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26" name="Text 24"/>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Homes Fail Silently — Until It's Too Late</a:t>
            </a:r>
            <a:endParaRPr lang="en-US" sz="3200" dirty="0"/>
          </a:p>
        </p:txBody>
      </p:sp>
      <p:sp>
        <p:nvSpPr>
          <p:cNvPr id="4" name="Text 2"/>
          <p:cNvSpPr/>
          <p:nvPr/>
        </p:nvSpPr>
        <p:spPr>
          <a:xfrm>
            <a:off x="548640" y="1600200"/>
            <a:ext cx="6035040" cy="2377440"/>
          </a:xfrm>
          <a:prstGeom prst="rect">
            <a:avLst/>
          </a:prstGeom>
          <a:noFill/>
          <a:ln/>
        </p:spPr>
        <p:txBody>
          <a:bodyPr wrap="square" lIns="0" tIns="0" rIns="0" bIns="0" rtlCol="0" anchor="ctr"/>
          <a:lstStyle/>
          <a:p>
            <a:pPr indent="0" marL="0">
              <a:lnSpc>
                <a:spcPct val="135000"/>
              </a:lnSpc>
              <a:buNone/>
            </a:pPr>
            <a:r>
              <a:rPr lang="en-US" sz="1550" dirty="0">
                <a:solidFill>
                  <a:srgbClr val="14213D"/>
                </a:solidFill>
                <a:latin typeface="Calibri" pitchFamily="34" charset="0"/>
                <a:ea typeface="Calibri" pitchFamily="34" charset="-122"/>
                <a:cs typeface="Calibri" pitchFamily="34" charset="-120"/>
              </a:rPr>
              <a:t>Fires spread, gas leaks build up, and intruders enter, all while residents are asleep, at work, or simply unaware. Traditional alarms only make noise after danger is already present. This project asks a different question: what if the home could sense the threat and act on it automatically, before a person even reaches the room?</a:t>
            </a:r>
            <a:endParaRPr lang="en-US" sz="1550" dirty="0"/>
          </a:p>
        </p:txBody>
      </p:sp>
      <p:sp>
        <p:nvSpPr>
          <p:cNvPr id="5" name="Shape 3"/>
          <p:cNvSpPr/>
          <p:nvPr/>
        </p:nvSpPr>
        <p:spPr>
          <a:xfrm>
            <a:off x="6949440" y="1554480"/>
            <a:ext cx="4663440" cy="1188720"/>
          </a:xfrm>
          <a:prstGeom prst="roundRect">
            <a:avLst>
              <a:gd name="adj" fmla="val 6154"/>
            </a:avLst>
          </a:prstGeom>
          <a:solidFill>
            <a:srgbClr val="FFFFFF"/>
          </a:solidFill>
          <a:ln/>
          <a:effectLst>
            <a:outerShdw sx="100000" sy="100000" kx="0" ky="0" algn="bl" rotWithShape="0" blurRad="76200" dist="25400" dir="5400000">
              <a:srgbClr val="1B2A4A">
                <a:alpha val="18000"/>
              </a:srgbClr>
            </a:outerShdw>
          </a:effectLst>
        </p:spPr>
      </p:sp>
      <p:sp>
        <p:nvSpPr>
          <p:cNvPr id="6" name="Shape 4"/>
          <p:cNvSpPr/>
          <p:nvPr/>
        </p:nvSpPr>
        <p:spPr>
          <a:xfrm>
            <a:off x="7178040" y="1828800"/>
            <a:ext cx="640080" cy="640080"/>
          </a:xfrm>
          <a:prstGeom prst="ellipse">
            <a:avLst/>
          </a:prstGeom>
          <a:solidFill>
            <a:srgbClr val="E63946"/>
          </a:solidFill>
          <a:ln/>
        </p:spPr>
      </p:sp>
      <p:sp>
        <p:nvSpPr>
          <p:cNvPr id="7" name="Text 5"/>
          <p:cNvSpPr/>
          <p:nvPr/>
        </p:nvSpPr>
        <p:spPr>
          <a:xfrm>
            <a:off x="7178040" y="182880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FIR</a:t>
            </a:r>
            <a:endParaRPr lang="en-US" sz="1200" dirty="0"/>
          </a:p>
        </p:txBody>
      </p:sp>
      <p:sp>
        <p:nvSpPr>
          <p:cNvPr id="8" name="Text 6"/>
          <p:cNvSpPr/>
          <p:nvPr/>
        </p:nvSpPr>
        <p:spPr>
          <a:xfrm>
            <a:off x="8001000" y="1719072"/>
            <a:ext cx="347472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FIRE</a:t>
            </a:r>
            <a:endParaRPr lang="en-US" sz="1500" dirty="0"/>
          </a:p>
        </p:txBody>
      </p:sp>
      <p:sp>
        <p:nvSpPr>
          <p:cNvPr id="9" name="Text 7"/>
          <p:cNvSpPr/>
          <p:nvPr/>
        </p:nvSpPr>
        <p:spPr>
          <a:xfrm>
            <a:off x="8001000" y="2084832"/>
            <a:ext cx="3474720" cy="59436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Rapid temperature rise from electrical or kitchen faults</a:t>
            </a:r>
            <a:endParaRPr lang="en-US" sz="1100" dirty="0"/>
          </a:p>
        </p:txBody>
      </p:sp>
      <p:sp>
        <p:nvSpPr>
          <p:cNvPr id="10" name="Shape 8"/>
          <p:cNvSpPr/>
          <p:nvPr/>
        </p:nvSpPr>
        <p:spPr>
          <a:xfrm>
            <a:off x="6949440" y="2971800"/>
            <a:ext cx="4663440" cy="1188720"/>
          </a:xfrm>
          <a:prstGeom prst="roundRect">
            <a:avLst>
              <a:gd name="adj" fmla="val 6154"/>
            </a:avLst>
          </a:prstGeom>
          <a:solidFill>
            <a:srgbClr val="FFFFFF"/>
          </a:solidFill>
          <a:ln/>
          <a:effectLst>
            <a:outerShdw sx="100000" sy="100000" kx="0" ky="0" algn="bl" rotWithShape="0" blurRad="76200" dist="25400" dir="5400000">
              <a:srgbClr val="1B2A4A">
                <a:alpha val="18000"/>
              </a:srgbClr>
            </a:outerShdw>
          </a:effectLst>
        </p:spPr>
      </p:sp>
      <p:sp>
        <p:nvSpPr>
          <p:cNvPr id="11" name="Shape 9"/>
          <p:cNvSpPr/>
          <p:nvPr/>
        </p:nvSpPr>
        <p:spPr>
          <a:xfrm>
            <a:off x="7178040" y="3246120"/>
            <a:ext cx="640080" cy="640080"/>
          </a:xfrm>
          <a:prstGeom prst="ellipse">
            <a:avLst/>
          </a:prstGeom>
          <a:solidFill>
            <a:srgbClr val="E08E45"/>
          </a:solidFill>
          <a:ln/>
        </p:spPr>
      </p:sp>
      <p:sp>
        <p:nvSpPr>
          <p:cNvPr id="12" name="Text 10"/>
          <p:cNvSpPr/>
          <p:nvPr/>
        </p:nvSpPr>
        <p:spPr>
          <a:xfrm>
            <a:off x="7178040" y="324612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GAS</a:t>
            </a:r>
            <a:endParaRPr lang="en-US" sz="1200" dirty="0"/>
          </a:p>
        </p:txBody>
      </p:sp>
      <p:sp>
        <p:nvSpPr>
          <p:cNvPr id="13" name="Text 11"/>
          <p:cNvSpPr/>
          <p:nvPr/>
        </p:nvSpPr>
        <p:spPr>
          <a:xfrm>
            <a:off x="8001000" y="3136392"/>
            <a:ext cx="347472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GAS</a:t>
            </a:r>
            <a:endParaRPr lang="en-US" sz="1500" dirty="0"/>
          </a:p>
        </p:txBody>
      </p:sp>
      <p:sp>
        <p:nvSpPr>
          <p:cNvPr id="14" name="Text 12"/>
          <p:cNvSpPr/>
          <p:nvPr/>
        </p:nvSpPr>
        <p:spPr>
          <a:xfrm>
            <a:off x="8001000" y="3502152"/>
            <a:ext cx="3474720" cy="59436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Invisible leaks that build up unnoticed overnight</a:t>
            </a:r>
            <a:endParaRPr lang="en-US" sz="1100" dirty="0"/>
          </a:p>
        </p:txBody>
      </p:sp>
      <p:sp>
        <p:nvSpPr>
          <p:cNvPr id="15" name="Shape 13"/>
          <p:cNvSpPr/>
          <p:nvPr/>
        </p:nvSpPr>
        <p:spPr>
          <a:xfrm>
            <a:off x="6949440" y="4389120"/>
            <a:ext cx="4663440" cy="1188720"/>
          </a:xfrm>
          <a:prstGeom prst="roundRect">
            <a:avLst>
              <a:gd name="adj" fmla="val 6154"/>
            </a:avLst>
          </a:prstGeom>
          <a:solidFill>
            <a:srgbClr val="FFFFFF"/>
          </a:solidFill>
          <a:ln/>
          <a:effectLst>
            <a:outerShdw sx="100000" sy="100000" kx="0" ky="0" algn="bl" rotWithShape="0" blurRad="76200" dist="25400" dir="5400000">
              <a:srgbClr val="1B2A4A">
                <a:alpha val="18000"/>
              </a:srgbClr>
            </a:outerShdw>
          </a:effectLst>
        </p:spPr>
      </p:sp>
      <p:sp>
        <p:nvSpPr>
          <p:cNvPr id="16" name="Shape 14"/>
          <p:cNvSpPr/>
          <p:nvPr/>
        </p:nvSpPr>
        <p:spPr>
          <a:xfrm>
            <a:off x="7178040" y="4663440"/>
            <a:ext cx="640080" cy="640080"/>
          </a:xfrm>
          <a:prstGeom prst="ellipse">
            <a:avLst/>
          </a:prstGeom>
          <a:solidFill>
            <a:srgbClr val="14213D"/>
          </a:solidFill>
          <a:ln/>
        </p:spPr>
      </p:sp>
      <p:sp>
        <p:nvSpPr>
          <p:cNvPr id="17" name="Text 15"/>
          <p:cNvSpPr/>
          <p:nvPr/>
        </p:nvSpPr>
        <p:spPr>
          <a:xfrm>
            <a:off x="7178040" y="466344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a:t>
            </a:r>
            <a:endParaRPr lang="en-US" sz="1200" dirty="0"/>
          </a:p>
        </p:txBody>
      </p:sp>
      <p:sp>
        <p:nvSpPr>
          <p:cNvPr id="18" name="Text 16"/>
          <p:cNvSpPr/>
          <p:nvPr/>
        </p:nvSpPr>
        <p:spPr>
          <a:xfrm>
            <a:off x="8001000" y="4553712"/>
            <a:ext cx="347472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INTRUSION</a:t>
            </a:r>
            <a:endParaRPr lang="en-US" sz="1500" dirty="0"/>
          </a:p>
        </p:txBody>
      </p:sp>
      <p:sp>
        <p:nvSpPr>
          <p:cNvPr id="19" name="Text 17"/>
          <p:cNvSpPr/>
          <p:nvPr/>
        </p:nvSpPr>
        <p:spPr>
          <a:xfrm>
            <a:off x="8001000" y="4919472"/>
            <a:ext cx="3474720" cy="59436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Break-ins while occupants are away or asleep</a:t>
            </a:r>
            <a:endParaRPr lang="en-US" sz="1100" dirty="0"/>
          </a:p>
        </p:txBody>
      </p:sp>
      <p:sp>
        <p:nvSpPr>
          <p:cNvPr id="20" name="Text 18"/>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21" name="Text 1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E63946"/>
                </a:solidFill>
                <a:latin typeface="Calibri" pitchFamily="34" charset="0"/>
                <a:ea typeface="Calibri" pitchFamily="34" charset="-122"/>
                <a:cs typeface="Calibri" pitchFamily="34" charset="-120"/>
              </a:rPr>
              <a:t>EVIDENCE IT SAVES LIVES  ·  FIRE</a:t>
            </a:r>
            <a:endParaRPr lang="en-US" sz="1300" dirty="0"/>
          </a:p>
        </p:txBody>
      </p:sp>
      <p:sp>
        <p:nvSpPr>
          <p:cNvPr id="3" name="Text 1"/>
          <p:cNvSpPr/>
          <p:nvPr/>
        </p:nvSpPr>
        <p:spPr>
          <a:xfrm>
            <a:off x="548640" y="685800"/>
            <a:ext cx="685800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A Working Smoke &amp; Heat Alert</a:t>
            </a:r>
            <a:endParaRPr lang="en-US" sz="3200" dirty="0"/>
          </a:p>
          <a:p>
            <a:pPr algn="l" indent="0" marL="0">
              <a:buNone/>
            </a:pPr>
            <a:r>
              <a:rPr lang="en-US" sz="3200" b="1" dirty="0">
                <a:solidFill>
                  <a:srgbClr val="14213D"/>
                </a:solidFill>
                <a:latin typeface="Cambria" pitchFamily="34" charset="0"/>
                <a:ea typeface="Cambria" pitchFamily="34" charset="-122"/>
                <a:cs typeface="Cambria" pitchFamily="34" charset="-120"/>
              </a:rPr>
              <a:t>Cuts Fire Deaths in Half</a:t>
            </a:r>
            <a:endParaRPr lang="en-US" sz="3200" dirty="0"/>
          </a:p>
        </p:txBody>
      </p:sp>
      <p:sp>
        <p:nvSpPr>
          <p:cNvPr id="4" name="Shape 2"/>
          <p:cNvSpPr/>
          <p:nvPr/>
        </p:nvSpPr>
        <p:spPr>
          <a:xfrm>
            <a:off x="7863840" y="1554480"/>
            <a:ext cx="3749040" cy="4480560"/>
          </a:xfrm>
          <a:prstGeom prst="roundRect">
            <a:avLst>
              <a:gd name="adj" fmla="val 1951"/>
            </a:avLst>
          </a:prstGeom>
          <a:solidFill>
            <a:srgbClr val="14213D"/>
          </a:solidFill>
          <a:ln/>
          <a:effectLst>
            <a:outerShdw sx="100000" sy="100000" kx="0" ky="0" algn="bl" rotWithShape="0" blurRad="76200" dist="25400" dir="5400000">
              <a:srgbClr val="1B2A4A">
                <a:alpha val="18000"/>
              </a:srgbClr>
            </a:outerShdw>
          </a:effectLst>
        </p:spPr>
      </p:sp>
      <p:sp>
        <p:nvSpPr>
          <p:cNvPr id="5" name="Text 3"/>
          <p:cNvSpPr/>
          <p:nvPr/>
        </p:nvSpPr>
        <p:spPr>
          <a:xfrm>
            <a:off x="7863840" y="2103120"/>
            <a:ext cx="3749040" cy="14630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60%</a:t>
            </a:r>
            <a:endParaRPr lang="en-US" sz="5800" dirty="0"/>
          </a:p>
        </p:txBody>
      </p:sp>
      <p:sp>
        <p:nvSpPr>
          <p:cNvPr id="6" name="Text 4"/>
          <p:cNvSpPr/>
          <p:nvPr/>
        </p:nvSpPr>
        <p:spPr>
          <a:xfrm>
            <a:off x="8138160" y="3429000"/>
            <a:ext cx="3200400" cy="914400"/>
          </a:xfrm>
          <a:prstGeom prst="rect">
            <a:avLst/>
          </a:prstGeom>
          <a:noFill/>
          <a:ln/>
        </p:spPr>
        <p:txBody>
          <a:bodyPr wrap="square" lIns="0" tIns="0" rIns="0" bIns="0" rtlCol="0" anchor="ctr"/>
          <a:lstStyle/>
          <a:p>
            <a:pPr algn="ctr" indent="0" marL="0">
              <a:lnSpc>
                <a:spcPct val="125000"/>
              </a:lnSpc>
              <a:buNone/>
            </a:pPr>
            <a:r>
              <a:rPr lang="en-US" sz="1400" dirty="0">
                <a:solidFill>
                  <a:srgbClr val="CADCFC"/>
                </a:solidFill>
                <a:latin typeface="Calibri" pitchFamily="34" charset="0"/>
                <a:ea typeface="Calibri" pitchFamily="34" charset="-122"/>
                <a:cs typeface="Calibri" pitchFamily="34" charset="-120"/>
              </a:rPr>
              <a:t>lower risk of dying in a</a:t>
            </a:r>
            <a:endParaRPr lang="en-US" sz="1400" dirty="0"/>
          </a:p>
          <a:p>
            <a:pPr algn="ctr" indent="0" marL="0">
              <a:lnSpc>
                <a:spcPct val="125000"/>
              </a:lnSpc>
              <a:buNone/>
            </a:pPr>
            <a:r>
              <a:rPr lang="en-US" sz="1400" dirty="0">
                <a:solidFill>
                  <a:srgbClr val="CADCFC"/>
                </a:solidFill>
                <a:latin typeface="Calibri" pitchFamily="34" charset="0"/>
                <a:ea typeface="Calibri" pitchFamily="34" charset="-122"/>
                <a:cs typeface="Calibri" pitchFamily="34" charset="-120"/>
              </a:rPr>
              <a:t>home fire when a working</a:t>
            </a:r>
            <a:endParaRPr lang="en-US" sz="1400" dirty="0"/>
          </a:p>
          <a:p>
            <a:pPr algn="ctr" indent="0" marL="0">
              <a:lnSpc>
                <a:spcPct val="125000"/>
              </a:lnSpc>
              <a:buNone/>
            </a:pPr>
            <a:r>
              <a:rPr lang="en-US" sz="1400" dirty="0">
                <a:solidFill>
                  <a:srgbClr val="CADCFC"/>
                </a:solidFill>
                <a:latin typeface="Calibri" pitchFamily="34" charset="0"/>
                <a:ea typeface="Calibri" pitchFamily="34" charset="-122"/>
                <a:cs typeface="Calibri" pitchFamily="34" charset="-120"/>
              </a:rPr>
              <a:t>alarm is present</a:t>
            </a:r>
            <a:endParaRPr lang="en-US" sz="1400" dirty="0"/>
          </a:p>
        </p:txBody>
      </p:sp>
      <p:sp>
        <p:nvSpPr>
          <p:cNvPr id="7" name="Shape 5"/>
          <p:cNvSpPr/>
          <p:nvPr/>
        </p:nvSpPr>
        <p:spPr>
          <a:xfrm>
            <a:off x="8321040" y="4434840"/>
            <a:ext cx="2834640" cy="0"/>
          </a:xfrm>
          <a:prstGeom prst="line">
            <a:avLst/>
          </a:prstGeom>
          <a:noFill/>
          <a:ln w="25400">
            <a:solidFill>
              <a:srgbClr val="E63946"/>
            </a:solidFill>
            <a:prstDash val="solid"/>
          </a:ln>
        </p:spPr>
      </p:sp>
      <p:sp>
        <p:nvSpPr>
          <p:cNvPr id="8" name="Text 6"/>
          <p:cNvSpPr/>
          <p:nvPr/>
        </p:nvSpPr>
        <p:spPr>
          <a:xfrm>
            <a:off x="8138160" y="4572000"/>
            <a:ext cx="3200400" cy="1188720"/>
          </a:xfrm>
          <a:prstGeom prst="rect">
            <a:avLst/>
          </a:prstGeom>
          <a:noFill/>
          <a:ln/>
        </p:spPr>
        <p:txBody>
          <a:bodyPr wrap="square" lIns="0" tIns="0" rIns="0" bIns="0" rtlCol="0" anchor="ctr"/>
          <a:lstStyle/>
          <a:p>
            <a:pPr algn="ctr" indent="0" marL="0">
              <a:lnSpc>
                <a:spcPct val="120000"/>
              </a:lnSpc>
              <a:buNone/>
            </a:pPr>
            <a:r>
              <a:rPr lang="en-US" sz="1050" i="1" dirty="0">
                <a:solidFill>
                  <a:srgbClr val="CADCFC"/>
                </a:solidFill>
                <a:latin typeface="Calibri" pitchFamily="34" charset="0"/>
                <a:ea typeface="Calibri" pitchFamily="34" charset="-122"/>
                <a:cs typeface="Calibri" pitchFamily="34" charset="-120"/>
              </a:rPr>
              <a:t>Source: National Fire Protection Association (NFPA), 2024 Smoke Alarm Report</a:t>
            </a:r>
            <a:endParaRPr lang="en-US" sz="1050" dirty="0"/>
          </a:p>
        </p:txBody>
      </p:sp>
      <p:sp>
        <p:nvSpPr>
          <p:cNvPr id="9" name="Text 7"/>
          <p:cNvSpPr/>
          <p:nvPr/>
        </p:nvSpPr>
        <p:spPr>
          <a:xfrm>
            <a:off x="548640" y="1737360"/>
            <a:ext cx="6858000" cy="4206240"/>
          </a:xfrm>
          <a:prstGeom prst="rect">
            <a:avLst/>
          </a:prstGeom>
          <a:noFill/>
          <a:ln/>
        </p:spPr>
        <p:txBody>
          <a:bodyPr wrap="square" lIns="0" tIns="0" rIns="0" bIns="0" rtlCol="0" anchor="ctr"/>
          <a:lstStyle/>
          <a:p>
            <a:pPr indent="0" marL="0">
              <a:lnSpc>
                <a:spcPct val="135000"/>
              </a:lnSpc>
              <a:buNone/>
            </a:pPr>
            <a:r>
              <a:rPr lang="en-US" sz="1500" dirty="0">
                <a:solidFill>
                  <a:srgbClr val="14213D"/>
                </a:solidFill>
                <a:latin typeface="Calibri" pitchFamily="34" charset="0"/>
                <a:ea typeface="Calibri" pitchFamily="34" charset="-122"/>
                <a:cs typeface="Calibri" pitchFamily="34" charset="-120"/>
              </a:rPr>
              <a:t>According to the U.S. National Fire Protection Association, a working smoke alarm reduces the risk of dying in a reported home fire by roughly 60 percent, yet a large share of fatal fires still happen in homes where the alarm was missing or not functioning.</a:t>
            </a:r>
            <a:endParaRPr lang="en-US" sz="1500" dirty="0"/>
          </a:p>
          <a:p>
            <a:pPr indent="0" marL="0">
              <a:lnSpc>
                <a:spcPct val="135000"/>
              </a:lnSpc>
              <a:buNone/>
            </a:pPr>
            <a:endParaRPr lang="en-US" sz="1500" dirty="0"/>
          </a:p>
          <a:p>
            <a:pPr indent="0" marL="0">
              <a:lnSpc>
                <a:spcPct val="135000"/>
              </a:lnSpc>
              <a:buNone/>
            </a:pPr>
            <a:r>
              <a:rPr lang="en-US" sz="1500" dirty="0">
                <a:solidFill>
                  <a:srgbClr val="14213D"/>
                </a:solidFill>
                <a:latin typeface="Calibri" pitchFamily="34" charset="0"/>
                <a:ea typeface="Calibri" pitchFamily="34" charset="-122"/>
                <a:cs typeface="Calibri" pitchFamily="34" charset="-120"/>
              </a:rPr>
              <a:t>This project's TMP36 temperature sensor plays the same early-warning role as a heat detector: once the temperature crosses 40°C, the system doesn't just sound a buzzer — it also lights the red LED, updates the LCD, and drives Servo 3 to represent a sprinkler activating, combining detection with an automatic first response.</a:t>
            </a:r>
            <a:endParaRPr lang="en-US" sz="1500" dirty="0"/>
          </a:p>
        </p:txBody>
      </p:sp>
      <p:sp>
        <p:nvSpPr>
          <p:cNvPr id="10" name="Text 8"/>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11" name="Text 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E08E45"/>
                </a:solidFill>
                <a:latin typeface="Calibri" pitchFamily="34" charset="0"/>
                <a:ea typeface="Calibri" pitchFamily="34" charset="-122"/>
                <a:cs typeface="Calibri" pitchFamily="34" charset="-120"/>
              </a:rPr>
              <a:t>EVIDENCE IT SAVES LIVES  ·  GAS LEAKS</a:t>
            </a:r>
            <a:endParaRPr lang="en-US" sz="1300" dirty="0"/>
          </a:p>
        </p:txBody>
      </p:sp>
      <p:sp>
        <p:nvSpPr>
          <p:cNvPr id="3" name="Text 1"/>
          <p:cNvSpPr/>
          <p:nvPr/>
        </p:nvSpPr>
        <p:spPr>
          <a:xfrm>
            <a:off x="548640" y="685800"/>
            <a:ext cx="685800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Carbon Monoxide Is a</a:t>
            </a:r>
            <a:endParaRPr lang="en-US" sz="3200" dirty="0"/>
          </a:p>
          <a:p>
            <a:pPr algn="l" indent="0" marL="0">
              <a:buNone/>
            </a:pPr>
            <a:r>
              <a:rPr lang="en-US" sz="3200" b="1" dirty="0">
                <a:solidFill>
                  <a:srgbClr val="14213D"/>
                </a:solidFill>
                <a:latin typeface="Cambria" pitchFamily="34" charset="0"/>
                <a:ea typeface="Cambria" pitchFamily="34" charset="-122"/>
                <a:cs typeface="Cambria" pitchFamily="34" charset="-120"/>
              </a:rPr>
              <a:t>Silent, Preventable Killer</a:t>
            </a:r>
            <a:endParaRPr lang="en-US" sz="3200" dirty="0"/>
          </a:p>
        </p:txBody>
      </p:sp>
      <p:sp>
        <p:nvSpPr>
          <p:cNvPr id="4" name="Shape 2"/>
          <p:cNvSpPr/>
          <p:nvPr/>
        </p:nvSpPr>
        <p:spPr>
          <a:xfrm>
            <a:off x="7863840" y="1554480"/>
            <a:ext cx="3749040" cy="4480560"/>
          </a:xfrm>
          <a:prstGeom prst="roundRect">
            <a:avLst>
              <a:gd name="adj" fmla="val 1951"/>
            </a:avLst>
          </a:prstGeom>
          <a:solidFill>
            <a:srgbClr val="14213D"/>
          </a:solidFill>
          <a:ln/>
          <a:effectLst>
            <a:outerShdw sx="100000" sy="100000" kx="0" ky="0" algn="bl" rotWithShape="0" blurRad="76200" dist="25400" dir="5400000">
              <a:srgbClr val="1B2A4A">
                <a:alpha val="18000"/>
              </a:srgbClr>
            </a:outerShdw>
          </a:effectLst>
        </p:spPr>
      </p:sp>
      <p:sp>
        <p:nvSpPr>
          <p:cNvPr id="5" name="Text 3"/>
          <p:cNvSpPr/>
          <p:nvPr/>
        </p:nvSpPr>
        <p:spPr>
          <a:xfrm>
            <a:off x="7863840" y="2103120"/>
            <a:ext cx="3749040" cy="14630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400+</a:t>
            </a:r>
            <a:endParaRPr lang="en-US" sz="5800" dirty="0"/>
          </a:p>
        </p:txBody>
      </p:sp>
      <p:sp>
        <p:nvSpPr>
          <p:cNvPr id="6" name="Text 4"/>
          <p:cNvSpPr/>
          <p:nvPr/>
        </p:nvSpPr>
        <p:spPr>
          <a:xfrm>
            <a:off x="8138160" y="3429000"/>
            <a:ext cx="3200400" cy="914400"/>
          </a:xfrm>
          <a:prstGeom prst="rect">
            <a:avLst/>
          </a:prstGeom>
          <a:noFill/>
          <a:ln/>
        </p:spPr>
        <p:txBody>
          <a:bodyPr wrap="square" lIns="0" tIns="0" rIns="0" bIns="0" rtlCol="0" anchor="ctr"/>
          <a:lstStyle/>
          <a:p>
            <a:pPr algn="ctr" indent="0" marL="0">
              <a:lnSpc>
                <a:spcPct val="125000"/>
              </a:lnSpc>
              <a:buNone/>
            </a:pPr>
            <a:r>
              <a:rPr lang="en-US" sz="1400" dirty="0">
                <a:solidFill>
                  <a:srgbClr val="CADCFC"/>
                </a:solidFill>
                <a:latin typeface="Calibri" pitchFamily="34" charset="0"/>
                <a:ea typeface="Calibri" pitchFamily="34" charset="-122"/>
                <a:cs typeface="Calibri" pitchFamily="34" charset="-120"/>
              </a:rPr>
              <a:t>accidental carbon monoxide</a:t>
            </a:r>
            <a:endParaRPr lang="en-US" sz="1400" dirty="0"/>
          </a:p>
          <a:p>
            <a:pPr algn="ctr" indent="0" marL="0">
              <a:lnSpc>
                <a:spcPct val="125000"/>
              </a:lnSpc>
              <a:buNone/>
            </a:pPr>
            <a:r>
              <a:rPr lang="en-US" sz="1400" dirty="0">
                <a:solidFill>
                  <a:srgbClr val="CADCFC"/>
                </a:solidFill>
                <a:latin typeface="Calibri" pitchFamily="34" charset="0"/>
                <a:ea typeface="Calibri" pitchFamily="34" charset="-122"/>
                <a:cs typeface="Calibri" pitchFamily="34" charset="-120"/>
              </a:rPr>
              <a:t>deaths every year in the</a:t>
            </a:r>
            <a:endParaRPr lang="en-US" sz="1400" dirty="0"/>
          </a:p>
          <a:p>
            <a:pPr algn="ctr" indent="0" marL="0">
              <a:lnSpc>
                <a:spcPct val="125000"/>
              </a:lnSpc>
              <a:buNone/>
            </a:pPr>
            <a:r>
              <a:rPr lang="en-US" sz="1400" dirty="0">
                <a:solidFill>
                  <a:srgbClr val="CADCFC"/>
                </a:solidFill>
                <a:latin typeface="Calibri" pitchFamily="34" charset="0"/>
                <a:ea typeface="Calibri" pitchFamily="34" charset="-122"/>
                <a:cs typeface="Calibri" pitchFamily="34" charset="-120"/>
              </a:rPr>
              <a:t>United States alone</a:t>
            </a:r>
            <a:endParaRPr lang="en-US" sz="1400" dirty="0"/>
          </a:p>
        </p:txBody>
      </p:sp>
      <p:sp>
        <p:nvSpPr>
          <p:cNvPr id="7" name="Shape 5"/>
          <p:cNvSpPr/>
          <p:nvPr/>
        </p:nvSpPr>
        <p:spPr>
          <a:xfrm>
            <a:off x="8321040" y="4434840"/>
            <a:ext cx="2834640" cy="0"/>
          </a:xfrm>
          <a:prstGeom prst="line">
            <a:avLst/>
          </a:prstGeom>
          <a:noFill/>
          <a:ln w="25400">
            <a:solidFill>
              <a:srgbClr val="E08E45"/>
            </a:solidFill>
            <a:prstDash val="solid"/>
          </a:ln>
        </p:spPr>
      </p:sp>
      <p:sp>
        <p:nvSpPr>
          <p:cNvPr id="8" name="Text 6"/>
          <p:cNvSpPr/>
          <p:nvPr/>
        </p:nvSpPr>
        <p:spPr>
          <a:xfrm>
            <a:off x="8138160" y="4572000"/>
            <a:ext cx="3200400" cy="1188720"/>
          </a:xfrm>
          <a:prstGeom prst="rect">
            <a:avLst/>
          </a:prstGeom>
          <a:noFill/>
          <a:ln/>
        </p:spPr>
        <p:txBody>
          <a:bodyPr wrap="square" lIns="0" tIns="0" rIns="0" bIns="0" rtlCol="0" anchor="ctr"/>
          <a:lstStyle/>
          <a:p>
            <a:pPr algn="ctr" indent="0" marL="0">
              <a:lnSpc>
                <a:spcPct val="120000"/>
              </a:lnSpc>
              <a:buNone/>
            </a:pPr>
            <a:r>
              <a:rPr lang="en-US" sz="1050" i="1" dirty="0">
                <a:solidFill>
                  <a:srgbClr val="CADCFC"/>
                </a:solidFill>
                <a:latin typeface="Calibri" pitchFamily="34" charset="0"/>
                <a:ea typeface="Calibri" pitchFamily="34" charset="-122"/>
                <a:cs typeface="Calibri" pitchFamily="34" charset="-120"/>
              </a:rPr>
              <a:t>Source: U.S. Centers for Disease Control and Prevention (CDC), National Vital Statistics System</a:t>
            </a:r>
            <a:endParaRPr lang="en-US" sz="1050" dirty="0"/>
          </a:p>
        </p:txBody>
      </p:sp>
      <p:sp>
        <p:nvSpPr>
          <p:cNvPr id="9" name="Text 7"/>
          <p:cNvSpPr/>
          <p:nvPr/>
        </p:nvSpPr>
        <p:spPr>
          <a:xfrm>
            <a:off x="548640" y="1737360"/>
            <a:ext cx="6858000" cy="4206240"/>
          </a:xfrm>
          <a:prstGeom prst="rect">
            <a:avLst/>
          </a:prstGeom>
          <a:noFill/>
          <a:ln/>
        </p:spPr>
        <p:txBody>
          <a:bodyPr wrap="square" lIns="0" tIns="0" rIns="0" bIns="0" rtlCol="0" anchor="ctr"/>
          <a:lstStyle/>
          <a:p>
            <a:pPr indent="0" marL="0">
              <a:lnSpc>
                <a:spcPct val="135000"/>
              </a:lnSpc>
              <a:buNone/>
            </a:pPr>
            <a:r>
              <a:rPr lang="en-US" sz="1500" dirty="0">
                <a:solidFill>
                  <a:srgbClr val="14213D"/>
                </a:solidFill>
                <a:latin typeface="Calibri" pitchFamily="34" charset="0"/>
                <a:ea typeface="Calibri" pitchFamily="34" charset="-122"/>
                <a:cs typeface="Calibri" pitchFamily="34" charset="-120"/>
              </a:rPr>
              <a:t>Gas leaks are especially dangerous because they are colorless and odorless — occupants often have no warning at all. U.S. CDC data shows several hundred people die every year from accidental, non-fire carbon monoxide poisoning, and tens of thousands more are hospitalized, with risk peaking in winter months when homes are sealed shut.</a:t>
            </a:r>
            <a:endParaRPr lang="en-US" sz="1500" dirty="0"/>
          </a:p>
          <a:p>
            <a:pPr indent="0" marL="0">
              <a:lnSpc>
                <a:spcPct val="135000"/>
              </a:lnSpc>
              <a:buNone/>
            </a:pPr>
            <a:endParaRPr lang="en-US" sz="1500" dirty="0"/>
          </a:p>
          <a:p>
            <a:pPr indent="0" marL="0">
              <a:lnSpc>
                <a:spcPct val="135000"/>
              </a:lnSpc>
              <a:buNone/>
            </a:pPr>
            <a:r>
              <a:rPr lang="en-US" sz="1500" dirty="0">
                <a:solidFill>
                  <a:srgbClr val="14213D"/>
                </a:solidFill>
                <a:latin typeface="Calibri" pitchFamily="34" charset="0"/>
                <a:ea typeface="Calibri" pitchFamily="34" charset="-122"/>
                <a:cs typeface="Calibri" pitchFamily="34" charset="-120"/>
              </a:rPr>
              <a:t>The MQ2 gas sensor in this build continuously monitors air quality on analog pin A4. The moment a reading crosses the safety threshold, the system sounds the buzzer, displays a GAS LEAK ALERT on the LCD, and drives Servo 2 to open a window automatically — increasing ventilation before a person is even in the room to react.</a:t>
            </a:r>
            <a:endParaRPr lang="en-US" sz="1500" dirty="0"/>
          </a:p>
        </p:txBody>
      </p:sp>
      <p:sp>
        <p:nvSpPr>
          <p:cNvPr id="10" name="Text 8"/>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11" name="Text 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14213D"/>
                </a:solidFill>
                <a:latin typeface="Calibri" pitchFamily="34" charset="0"/>
                <a:ea typeface="Calibri" pitchFamily="34" charset="-122"/>
                <a:cs typeface="Calibri" pitchFamily="34" charset="-120"/>
              </a:rPr>
              <a:t>EVIDENCE IT SAVES LIVES  ·  INTRUSION</a:t>
            </a:r>
            <a:endParaRPr lang="en-US" sz="1300" dirty="0"/>
          </a:p>
        </p:txBody>
      </p:sp>
      <p:sp>
        <p:nvSpPr>
          <p:cNvPr id="3" name="Text 1"/>
          <p:cNvSpPr/>
          <p:nvPr/>
        </p:nvSpPr>
        <p:spPr>
          <a:xfrm>
            <a:off x="548640" y="685800"/>
            <a:ext cx="685800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Visible, Active Security</a:t>
            </a:r>
            <a:endParaRPr lang="en-US" sz="3200" dirty="0"/>
          </a:p>
          <a:p>
            <a:pPr algn="l" indent="0" marL="0">
              <a:buNone/>
            </a:pPr>
            <a:r>
              <a:rPr lang="en-US" sz="3200" b="1" dirty="0">
                <a:solidFill>
                  <a:srgbClr val="14213D"/>
                </a:solidFill>
                <a:latin typeface="Cambria" pitchFamily="34" charset="0"/>
                <a:ea typeface="Cambria" pitchFamily="34" charset="-122"/>
                <a:cs typeface="Cambria" pitchFamily="34" charset="-120"/>
              </a:rPr>
              <a:t>Changes a Burglar's Decision</a:t>
            </a:r>
            <a:endParaRPr lang="en-US" sz="3200" dirty="0"/>
          </a:p>
        </p:txBody>
      </p:sp>
      <p:sp>
        <p:nvSpPr>
          <p:cNvPr id="4" name="Shape 2"/>
          <p:cNvSpPr/>
          <p:nvPr/>
        </p:nvSpPr>
        <p:spPr>
          <a:xfrm>
            <a:off x="7863840" y="1554480"/>
            <a:ext cx="3749040" cy="4480560"/>
          </a:xfrm>
          <a:prstGeom prst="roundRect">
            <a:avLst>
              <a:gd name="adj" fmla="val 1951"/>
            </a:avLst>
          </a:prstGeom>
          <a:solidFill>
            <a:srgbClr val="14213D"/>
          </a:solidFill>
          <a:ln/>
          <a:effectLst>
            <a:outerShdw sx="100000" sy="100000" kx="0" ky="0" algn="bl" rotWithShape="0" blurRad="76200" dist="25400" dir="5400000">
              <a:srgbClr val="1B2A4A">
                <a:alpha val="18000"/>
              </a:srgbClr>
            </a:outerShdw>
          </a:effectLst>
        </p:spPr>
      </p:sp>
      <p:sp>
        <p:nvSpPr>
          <p:cNvPr id="5" name="Text 3"/>
          <p:cNvSpPr/>
          <p:nvPr/>
        </p:nvSpPr>
        <p:spPr>
          <a:xfrm>
            <a:off x="7863840" y="2103120"/>
            <a:ext cx="3749040" cy="14630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83%</a:t>
            </a:r>
            <a:endParaRPr lang="en-US" sz="5800" dirty="0"/>
          </a:p>
        </p:txBody>
      </p:sp>
      <p:sp>
        <p:nvSpPr>
          <p:cNvPr id="6" name="Text 4"/>
          <p:cNvSpPr/>
          <p:nvPr/>
        </p:nvSpPr>
        <p:spPr>
          <a:xfrm>
            <a:off x="8138160" y="3429000"/>
            <a:ext cx="3200400" cy="914400"/>
          </a:xfrm>
          <a:prstGeom prst="rect">
            <a:avLst/>
          </a:prstGeom>
          <a:noFill/>
          <a:ln/>
        </p:spPr>
        <p:txBody>
          <a:bodyPr wrap="square" lIns="0" tIns="0" rIns="0" bIns="0" rtlCol="0" anchor="ctr"/>
          <a:lstStyle/>
          <a:p>
            <a:pPr algn="ctr" indent="0" marL="0">
              <a:lnSpc>
                <a:spcPct val="125000"/>
              </a:lnSpc>
              <a:buNone/>
            </a:pPr>
            <a:r>
              <a:rPr lang="en-US" sz="1400" dirty="0">
                <a:solidFill>
                  <a:srgbClr val="CADCFC"/>
                </a:solidFill>
                <a:latin typeface="Calibri" pitchFamily="34" charset="0"/>
                <a:ea typeface="Calibri" pitchFamily="34" charset="-122"/>
                <a:cs typeface="Calibri" pitchFamily="34" charset="-120"/>
              </a:rPr>
              <a:t>of convicted burglars say</a:t>
            </a:r>
            <a:endParaRPr lang="en-US" sz="1400" dirty="0"/>
          </a:p>
          <a:p>
            <a:pPr algn="ctr" indent="0" marL="0">
              <a:lnSpc>
                <a:spcPct val="125000"/>
              </a:lnSpc>
              <a:buNone/>
            </a:pPr>
            <a:r>
              <a:rPr lang="en-US" sz="1400" dirty="0">
                <a:solidFill>
                  <a:srgbClr val="CADCFC"/>
                </a:solidFill>
                <a:latin typeface="Calibri" pitchFamily="34" charset="0"/>
                <a:ea typeface="Calibri" pitchFamily="34" charset="-122"/>
                <a:cs typeface="Calibri" pitchFamily="34" charset="-120"/>
              </a:rPr>
              <a:t>they check for an alarm</a:t>
            </a:r>
            <a:endParaRPr lang="en-US" sz="1400" dirty="0"/>
          </a:p>
          <a:p>
            <a:pPr algn="ctr" indent="0" marL="0">
              <a:lnSpc>
                <a:spcPct val="125000"/>
              </a:lnSpc>
              <a:buNone/>
            </a:pPr>
            <a:r>
              <a:rPr lang="en-US" sz="1400" dirty="0">
                <a:solidFill>
                  <a:srgbClr val="CADCFC"/>
                </a:solidFill>
                <a:latin typeface="Calibri" pitchFamily="34" charset="0"/>
                <a:ea typeface="Calibri" pitchFamily="34" charset="-122"/>
                <a:cs typeface="Calibri" pitchFamily="34" charset="-120"/>
              </a:rPr>
              <a:t>before breaking in</a:t>
            </a:r>
            <a:endParaRPr lang="en-US" sz="1400" dirty="0"/>
          </a:p>
        </p:txBody>
      </p:sp>
      <p:sp>
        <p:nvSpPr>
          <p:cNvPr id="7" name="Shape 5"/>
          <p:cNvSpPr/>
          <p:nvPr/>
        </p:nvSpPr>
        <p:spPr>
          <a:xfrm>
            <a:off x="8321040" y="4434840"/>
            <a:ext cx="2834640" cy="0"/>
          </a:xfrm>
          <a:prstGeom prst="line">
            <a:avLst/>
          </a:prstGeom>
          <a:noFill/>
          <a:ln w="25400">
            <a:solidFill>
              <a:srgbClr val="14213D"/>
            </a:solidFill>
            <a:prstDash val="solid"/>
          </a:ln>
        </p:spPr>
      </p:sp>
      <p:sp>
        <p:nvSpPr>
          <p:cNvPr id="8" name="Text 6"/>
          <p:cNvSpPr/>
          <p:nvPr/>
        </p:nvSpPr>
        <p:spPr>
          <a:xfrm>
            <a:off x="8138160" y="4572000"/>
            <a:ext cx="3200400" cy="1188720"/>
          </a:xfrm>
          <a:prstGeom prst="rect">
            <a:avLst/>
          </a:prstGeom>
          <a:noFill/>
          <a:ln/>
        </p:spPr>
        <p:txBody>
          <a:bodyPr wrap="square" lIns="0" tIns="0" rIns="0" bIns="0" rtlCol="0" anchor="ctr"/>
          <a:lstStyle/>
          <a:p>
            <a:pPr algn="ctr" indent="0" marL="0">
              <a:lnSpc>
                <a:spcPct val="120000"/>
              </a:lnSpc>
              <a:buNone/>
            </a:pPr>
            <a:r>
              <a:rPr lang="en-US" sz="1050" i="1" dirty="0">
                <a:solidFill>
                  <a:srgbClr val="CADCFC"/>
                </a:solidFill>
                <a:latin typeface="Calibri" pitchFamily="34" charset="0"/>
                <a:ea typeface="Calibri" pitchFamily="34" charset="-122"/>
                <a:cs typeface="Calibri" pitchFamily="34" charset="-120"/>
              </a:rPr>
              <a:t>Sources: UNC Charlotte burglar survey; Rutgers University School of Criminal Justice</a:t>
            </a:r>
            <a:endParaRPr lang="en-US" sz="1050" dirty="0"/>
          </a:p>
        </p:txBody>
      </p:sp>
      <p:sp>
        <p:nvSpPr>
          <p:cNvPr id="9" name="Text 7"/>
          <p:cNvSpPr/>
          <p:nvPr/>
        </p:nvSpPr>
        <p:spPr>
          <a:xfrm>
            <a:off x="548640" y="1737360"/>
            <a:ext cx="6858000" cy="4206240"/>
          </a:xfrm>
          <a:prstGeom prst="rect">
            <a:avLst/>
          </a:prstGeom>
          <a:noFill/>
          <a:ln/>
        </p:spPr>
        <p:txBody>
          <a:bodyPr wrap="square" lIns="0" tIns="0" rIns="0" bIns="0" rtlCol="0" anchor="ctr"/>
          <a:lstStyle/>
          <a:p>
            <a:pPr indent="0" marL="0">
              <a:lnSpc>
                <a:spcPct val="135000"/>
              </a:lnSpc>
              <a:buNone/>
            </a:pPr>
            <a:r>
              <a:rPr lang="en-US" sz="1500" dirty="0">
                <a:solidFill>
                  <a:srgbClr val="14213D"/>
                </a:solidFill>
                <a:latin typeface="Calibri" pitchFamily="34" charset="0"/>
                <a:ea typeface="Calibri" pitchFamily="34" charset="-122"/>
                <a:cs typeface="Calibri" pitchFamily="34" charset="-120"/>
              </a:rPr>
              <a:t>A University of North Carolina at Charlotte study of 422 convicted burglars found that the large majority actively look for signs of an alarm system before attempting a break-in, and roughly 60 percent said they would abandon the attempt entirely if they discovered one active. A separate five-year Rutgers University study of Newark, New Jersey found burglary rates fell as home alarm registrations rose across the city.</a:t>
            </a:r>
            <a:endParaRPr lang="en-US" sz="1500" dirty="0"/>
          </a:p>
          <a:p>
            <a:pPr indent="0" marL="0">
              <a:lnSpc>
                <a:spcPct val="135000"/>
              </a:lnSpc>
              <a:buNone/>
            </a:pPr>
            <a:endParaRPr lang="en-US" sz="1500" dirty="0"/>
          </a:p>
          <a:p>
            <a:pPr indent="0" marL="0">
              <a:lnSpc>
                <a:spcPct val="135000"/>
              </a:lnSpc>
              <a:buNone/>
            </a:pPr>
            <a:r>
              <a:rPr lang="en-US" sz="1500" dirty="0">
                <a:solidFill>
                  <a:srgbClr val="14213D"/>
                </a:solidFill>
                <a:latin typeface="Calibri" pitchFamily="34" charset="0"/>
                <a:ea typeface="Calibri" pitchFamily="34" charset="-122"/>
                <a:cs typeface="Calibri" pitchFamily="34" charset="-120"/>
              </a:rPr>
              <a:t>This project's PIR motion sensor watches for movement while armed. On detection, it immediately locks the door via Servo 1, sounds the buzzer, lights the red LED, and displays INTRUDER DETECTED — turning passive awareness into an active, automatic response in under a second.</a:t>
            </a:r>
            <a:endParaRPr lang="en-US" sz="1500" dirty="0"/>
          </a:p>
        </p:txBody>
      </p:sp>
      <p:sp>
        <p:nvSpPr>
          <p:cNvPr id="10" name="Text 8"/>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11" name="Text 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SYSTEM DESIGN</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What the System Is Built to Do</a:t>
            </a:r>
            <a:endParaRPr lang="en-US" sz="3200" dirty="0"/>
          </a:p>
        </p:txBody>
      </p:sp>
      <p:sp>
        <p:nvSpPr>
          <p:cNvPr id="4" name="Shape 2"/>
          <p:cNvSpPr/>
          <p:nvPr/>
        </p:nvSpPr>
        <p:spPr>
          <a:xfrm>
            <a:off x="548640" y="1691640"/>
            <a:ext cx="3611880" cy="2148840"/>
          </a:xfrm>
          <a:prstGeom prst="roundRect">
            <a:avLst>
              <a:gd name="adj" fmla="val 3404"/>
            </a:avLst>
          </a:prstGeom>
          <a:solidFill>
            <a:srgbClr val="FFFFFF"/>
          </a:solidFill>
          <a:ln/>
          <a:effectLst>
            <a:outerShdw sx="100000" sy="100000" kx="0" ky="0" algn="bl" rotWithShape="0" blurRad="76200" dist="25400" dir="5400000">
              <a:srgbClr val="1B2A4A">
                <a:alpha val="18000"/>
              </a:srgbClr>
            </a:outerShdw>
          </a:effectLst>
        </p:spPr>
      </p:sp>
      <p:sp>
        <p:nvSpPr>
          <p:cNvPr id="5" name="Shape 3"/>
          <p:cNvSpPr/>
          <p:nvPr/>
        </p:nvSpPr>
        <p:spPr>
          <a:xfrm>
            <a:off x="822960" y="1965960"/>
            <a:ext cx="502920" cy="502920"/>
          </a:xfrm>
          <a:prstGeom prst="ellipse">
            <a:avLst/>
          </a:prstGeom>
          <a:solidFill>
            <a:srgbClr val="E63946"/>
          </a:solidFill>
          <a:ln/>
        </p:spPr>
      </p:sp>
      <p:sp>
        <p:nvSpPr>
          <p:cNvPr id="6" name="Text 4"/>
          <p:cNvSpPr/>
          <p:nvPr/>
        </p:nvSpPr>
        <p:spPr>
          <a:xfrm>
            <a:off x="822960"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822960" y="2606040"/>
            <a:ext cx="3063240" cy="365760"/>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Detect Intruders</a:t>
            </a:r>
            <a:endParaRPr lang="en-US" sz="1450" dirty="0"/>
          </a:p>
        </p:txBody>
      </p:sp>
      <p:sp>
        <p:nvSpPr>
          <p:cNvPr id="8" name="Text 6"/>
          <p:cNvSpPr/>
          <p:nvPr/>
        </p:nvSpPr>
        <p:spPr>
          <a:xfrm>
            <a:off x="822960" y="2971800"/>
            <a:ext cx="3063240" cy="777240"/>
          </a:xfrm>
          <a:prstGeom prst="rect">
            <a:avLst/>
          </a:prstGeom>
          <a:noFill/>
          <a:ln/>
        </p:spPr>
        <p:txBody>
          <a:bodyPr wrap="square" lIns="0" tIns="0" rIns="0" bIns="0" rtlCol="0" anchor="ctr"/>
          <a:lstStyle/>
          <a:p>
            <a:pPr indent="0" marL="0">
              <a:lnSpc>
                <a:spcPct val="125000"/>
              </a:lnSpc>
              <a:buNone/>
            </a:pPr>
            <a:r>
              <a:rPr lang="en-US" sz="1100" dirty="0">
                <a:solidFill>
                  <a:srgbClr val="6B7280"/>
                </a:solidFill>
                <a:latin typeface="Calibri" pitchFamily="34" charset="0"/>
                <a:ea typeface="Calibri" pitchFamily="34" charset="-122"/>
                <a:cs typeface="Calibri" pitchFamily="34" charset="-120"/>
              </a:rPr>
              <a:t>PIR sensor continuously watches for motion while the system is armed.</a:t>
            </a:r>
            <a:endParaRPr lang="en-US" sz="1100" dirty="0"/>
          </a:p>
        </p:txBody>
      </p:sp>
      <p:sp>
        <p:nvSpPr>
          <p:cNvPr id="9" name="Shape 7"/>
          <p:cNvSpPr/>
          <p:nvPr/>
        </p:nvSpPr>
        <p:spPr>
          <a:xfrm>
            <a:off x="4389120" y="1691640"/>
            <a:ext cx="3611880" cy="2148840"/>
          </a:xfrm>
          <a:prstGeom prst="roundRect">
            <a:avLst>
              <a:gd name="adj" fmla="val 3404"/>
            </a:avLst>
          </a:prstGeom>
          <a:solidFill>
            <a:srgbClr val="FFFFFF"/>
          </a:solidFill>
          <a:ln/>
          <a:effectLst>
            <a:outerShdw sx="100000" sy="100000" kx="0" ky="0" algn="bl" rotWithShape="0" blurRad="76200" dist="25400" dir="5400000">
              <a:srgbClr val="1B2A4A">
                <a:alpha val="18000"/>
              </a:srgbClr>
            </a:outerShdw>
          </a:effectLst>
        </p:spPr>
      </p:sp>
      <p:sp>
        <p:nvSpPr>
          <p:cNvPr id="10" name="Shape 8"/>
          <p:cNvSpPr/>
          <p:nvPr/>
        </p:nvSpPr>
        <p:spPr>
          <a:xfrm>
            <a:off x="4663440" y="1965960"/>
            <a:ext cx="502920" cy="502920"/>
          </a:xfrm>
          <a:prstGeom prst="ellipse">
            <a:avLst/>
          </a:prstGeom>
          <a:solidFill>
            <a:srgbClr val="E08E45"/>
          </a:solidFill>
          <a:ln/>
        </p:spPr>
      </p:sp>
      <p:sp>
        <p:nvSpPr>
          <p:cNvPr id="11" name="Text 9"/>
          <p:cNvSpPr/>
          <p:nvPr/>
        </p:nvSpPr>
        <p:spPr>
          <a:xfrm>
            <a:off x="4663440"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663440" y="2606040"/>
            <a:ext cx="3063240" cy="365760"/>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Sense Gas Leaks</a:t>
            </a:r>
            <a:endParaRPr lang="en-US" sz="1450" dirty="0"/>
          </a:p>
        </p:txBody>
      </p:sp>
      <p:sp>
        <p:nvSpPr>
          <p:cNvPr id="13" name="Text 11"/>
          <p:cNvSpPr/>
          <p:nvPr/>
        </p:nvSpPr>
        <p:spPr>
          <a:xfrm>
            <a:off x="4663440" y="2971800"/>
            <a:ext cx="3063240" cy="777240"/>
          </a:xfrm>
          <a:prstGeom prst="rect">
            <a:avLst/>
          </a:prstGeom>
          <a:noFill/>
          <a:ln/>
        </p:spPr>
        <p:txBody>
          <a:bodyPr wrap="square" lIns="0" tIns="0" rIns="0" bIns="0" rtlCol="0" anchor="ctr"/>
          <a:lstStyle/>
          <a:p>
            <a:pPr indent="0" marL="0">
              <a:lnSpc>
                <a:spcPct val="125000"/>
              </a:lnSpc>
              <a:buNone/>
            </a:pPr>
            <a:r>
              <a:rPr lang="en-US" sz="1100" dirty="0">
                <a:solidFill>
                  <a:srgbClr val="6B7280"/>
                </a:solidFill>
                <a:latin typeface="Calibri" pitchFamily="34" charset="0"/>
                <a:ea typeface="Calibri" pitchFamily="34" charset="-122"/>
                <a:cs typeface="Calibri" pitchFamily="34" charset="-120"/>
              </a:rPr>
              <a:t>MQ2 sensor monitors air quality and flags dangerous concentrations.</a:t>
            </a:r>
            <a:endParaRPr lang="en-US" sz="1100" dirty="0"/>
          </a:p>
        </p:txBody>
      </p:sp>
      <p:sp>
        <p:nvSpPr>
          <p:cNvPr id="14" name="Shape 12"/>
          <p:cNvSpPr/>
          <p:nvPr/>
        </p:nvSpPr>
        <p:spPr>
          <a:xfrm>
            <a:off x="8229600" y="1691640"/>
            <a:ext cx="3611880" cy="2148840"/>
          </a:xfrm>
          <a:prstGeom prst="roundRect">
            <a:avLst>
              <a:gd name="adj" fmla="val 3404"/>
            </a:avLst>
          </a:prstGeom>
          <a:solidFill>
            <a:srgbClr val="FFFFFF"/>
          </a:solidFill>
          <a:ln/>
          <a:effectLst>
            <a:outerShdw sx="100000" sy="100000" kx="0" ky="0" algn="bl" rotWithShape="0" blurRad="76200" dist="25400" dir="5400000">
              <a:srgbClr val="1B2A4A">
                <a:alpha val="18000"/>
              </a:srgbClr>
            </a:outerShdw>
          </a:effectLst>
        </p:spPr>
      </p:sp>
      <p:sp>
        <p:nvSpPr>
          <p:cNvPr id="15" name="Shape 13"/>
          <p:cNvSpPr/>
          <p:nvPr/>
        </p:nvSpPr>
        <p:spPr>
          <a:xfrm>
            <a:off x="8503920" y="1965960"/>
            <a:ext cx="502920" cy="502920"/>
          </a:xfrm>
          <a:prstGeom prst="ellipse">
            <a:avLst/>
          </a:prstGeom>
          <a:solidFill>
            <a:srgbClr val="E63946"/>
          </a:solidFill>
          <a:ln/>
        </p:spPr>
      </p:sp>
      <p:sp>
        <p:nvSpPr>
          <p:cNvPr id="16" name="Text 14"/>
          <p:cNvSpPr/>
          <p:nvPr/>
        </p:nvSpPr>
        <p:spPr>
          <a:xfrm>
            <a:off x="8503920"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503920" y="2606040"/>
            <a:ext cx="3063240" cy="365760"/>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Catch Rising Heat</a:t>
            </a:r>
            <a:endParaRPr lang="en-US" sz="1450" dirty="0"/>
          </a:p>
        </p:txBody>
      </p:sp>
      <p:sp>
        <p:nvSpPr>
          <p:cNvPr id="18" name="Text 16"/>
          <p:cNvSpPr/>
          <p:nvPr/>
        </p:nvSpPr>
        <p:spPr>
          <a:xfrm>
            <a:off x="8503920" y="2971800"/>
            <a:ext cx="3063240" cy="777240"/>
          </a:xfrm>
          <a:prstGeom prst="rect">
            <a:avLst/>
          </a:prstGeom>
          <a:noFill/>
          <a:ln/>
        </p:spPr>
        <p:txBody>
          <a:bodyPr wrap="square" lIns="0" tIns="0" rIns="0" bIns="0" rtlCol="0" anchor="ctr"/>
          <a:lstStyle/>
          <a:p>
            <a:pPr indent="0" marL="0">
              <a:lnSpc>
                <a:spcPct val="125000"/>
              </a:lnSpc>
              <a:buNone/>
            </a:pPr>
            <a:r>
              <a:rPr lang="en-US" sz="1100" dirty="0">
                <a:solidFill>
                  <a:srgbClr val="6B7280"/>
                </a:solidFill>
                <a:latin typeface="Calibri" pitchFamily="34" charset="0"/>
                <a:ea typeface="Calibri" pitchFamily="34" charset="-122"/>
                <a:cs typeface="Calibri" pitchFamily="34" charset="-120"/>
              </a:rPr>
              <a:t>TMP36 stands in for a fire/heat detector, alerting above 40°C.</a:t>
            </a:r>
            <a:endParaRPr lang="en-US" sz="1100" dirty="0"/>
          </a:p>
        </p:txBody>
      </p:sp>
      <p:sp>
        <p:nvSpPr>
          <p:cNvPr id="19" name="Shape 17"/>
          <p:cNvSpPr/>
          <p:nvPr/>
        </p:nvSpPr>
        <p:spPr>
          <a:xfrm>
            <a:off x="548640" y="4114800"/>
            <a:ext cx="3611880" cy="2148840"/>
          </a:xfrm>
          <a:prstGeom prst="roundRect">
            <a:avLst>
              <a:gd name="adj" fmla="val 3404"/>
            </a:avLst>
          </a:prstGeom>
          <a:solidFill>
            <a:srgbClr val="FFFFFF"/>
          </a:solidFill>
          <a:ln/>
          <a:effectLst>
            <a:outerShdw sx="100000" sy="100000" kx="0" ky="0" algn="bl" rotWithShape="0" blurRad="76200" dist="25400" dir="5400000">
              <a:srgbClr val="1B2A4A">
                <a:alpha val="18000"/>
              </a:srgbClr>
            </a:outerShdw>
          </a:effectLst>
        </p:spPr>
      </p:sp>
      <p:sp>
        <p:nvSpPr>
          <p:cNvPr id="20" name="Shape 18"/>
          <p:cNvSpPr/>
          <p:nvPr/>
        </p:nvSpPr>
        <p:spPr>
          <a:xfrm>
            <a:off x="822960" y="4389120"/>
            <a:ext cx="502920" cy="502920"/>
          </a:xfrm>
          <a:prstGeom prst="ellipse">
            <a:avLst/>
          </a:prstGeom>
          <a:solidFill>
            <a:srgbClr val="3A86FF"/>
          </a:solidFill>
          <a:ln/>
        </p:spPr>
      </p:sp>
      <p:sp>
        <p:nvSpPr>
          <p:cNvPr id="21" name="Text 19"/>
          <p:cNvSpPr/>
          <p:nvPr/>
        </p:nvSpPr>
        <p:spPr>
          <a:xfrm>
            <a:off x="822960" y="4389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822960" y="5029200"/>
            <a:ext cx="3063240" cy="365760"/>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Alert Immediately</a:t>
            </a:r>
            <a:endParaRPr lang="en-US" sz="1450" dirty="0"/>
          </a:p>
        </p:txBody>
      </p:sp>
      <p:sp>
        <p:nvSpPr>
          <p:cNvPr id="23" name="Text 21"/>
          <p:cNvSpPr/>
          <p:nvPr/>
        </p:nvSpPr>
        <p:spPr>
          <a:xfrm>
            <a:off x="822960" y="5394960"/>
            <a:ext cx="3063240" cy="777240"/>
          </a:xfrm>
          <a:prstGeom prst="rect">
            <a:avLst/>
          </a:prstGeom>
          <a:noFill/>
          <a:ln/>
        </p:spPr>
        <p:txBody>
          <a:bodyPr wrap="square" lIns="0" tIns="0" rIns="0" bIns="0" rtlCol="0" anchor="ctr"/>
          <a:lstStyle/>
          <a:p>
            <a:pPr indent="0" marL="0">
              <a:lnSpc>
                <a:spcPct val="125000"/>
              </a:lnSpc>
              <a:buNone/>
            </a:pPr>
            <a:r>
              <a:rPr lang="en-US" sz="1100" dirty="0">
                <a:solidFill>
                  <a:srgbClr val="6B7280"/>
                </a:solidFill>
                <a:latin typeface="Calibri" pitchFamily="34" charset="0"/>
                <a:ea typeface="Calibri" pitchFamily="34" charset="-122"/>
                <a:cs typeface="Calibri" pitchFamily="34" charset="-120"/>
              </a:rPr>
              <a:t>Buzzer, LEDs, and a 16×2 LCD give instant, unmistakable warnings.</a:t>
            </a:r>
            <a:endParaRPr lang="en-US" sz="1100" dirty="0"/>
          </a:p>
        </p:txBody>
      </p:sp>
      <p:sp>
        <p:nvSpPr>
          <p:cNvPr id="24" name="Shape 22"/>
          <p:cNvSpPr/>
          <p:nvPr/>
        </p:nvSpPr>
        <p:spPr>
          <a:xfrm>
            <a:off x="4389120" y="4114800"/>
            <a:ext cx="3611880" cy="2148840"/>
          </a:xfrm>
          <a:prstGeom prst="roundRect">
            <a:avLst>
              <a:gd name="adj" fmla="val 3404"/>
            </a:avLst>
          </a:prstGeom>
          <a:solidFill>
            <a:srgbClr val="FFFFFF"/>
          </a:solidFill>
          <a:ln/>
          <a:effectLst>
            <a:outerShdw sx="100000" sy="100000" kx="0" ky="0" algn="bl" rotWithShape="0" blurRad="76200" dist="25400" dir="5400000">
              <a:srgbClr val="1B2A4A">
                <a:alpha val="18000"/>
              </a:srgbClr>
            </a:outerShdw>
          </a:effectLst>
        </p:spPr>
      </p:sp>
      <p:sp>
        <p:nvSpPr>
          <p:cNvPr id="25" name="Shape 23"/>
          <p:cNvSpPr/>
          <p:nvPr/>
        </p:nvSpPr>
        <p:spPr>
          <a:xfrm>
            <a:off x="4663440" y="4389120"/>
            <a:ext cx="502920" cy="502920"/>
          </a:xfrm>
          <a:prstGeom prst="ellipse">
            <a:avLst/>
          </a:prstGeom>
          <a:solidFill>
            <a:srgbClr val="2A9D8F"/>
          </a:solidFill>
          <a:ln/>
        </p:spPr>
      </p:sp>
      <p:sp>
        <p:nvSpPr>
          <p:cNvPr id="26" name="Text 24"/>
          <p:cNvSpPr/>
          <p:nvPr/>
        </p:nvSpPr>
        <p:spPr>
          <a:xfrm>
            <a:off x="4663440" y="4389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4663440" y="5029200"/>
            <a:ext cx="3063240" cy="365760"/>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Act Automatically</a:t>
            </a:r>
            <a:endParaRPr lang="en-US" sz="1450" dirty="0"/>
          </a:p>
        </p:txBody>
      </p:sp>
      <p:sp>
        <p:nvSpPr>
          <p:cNvPr id="28" name="Text 26"/>
          <p:cNvSpPr/>
          <p:nvPr/>
        </p:nvSpPr>
        <p:spPr>
          <a:xfrm>
            <a:off x="4663440" y="5394960"/>
            <a:ext cx="3063240" cy="777240"/>
          </a:xfrm>
          <a:prstGeom prst="rect">
            <a:avLst/>
          </a:prstGeom>
          <a:noFill/>
          <a:ln/>
        </p:spPr>
        <p:txBody>
          <a:bodyPr wrap="square" lIns="0" tIns="0" rIns="0" bIns="0" rtlCol="0" anchor="ctr"/>
          <a:lstStyle/>
          <a:p>
            <a:pPr indent="0" marL="0">
              <a:lnSpc>
                <a:spcPct val="125000"/>
              </a:lnSpc>
              <a:buNone/>
            </a:pPr>
            <a:r>
              <a:rPr lang="en-US" sz="1100" dirty="0">
                <a:solidFill>
                  <a:srgbClr val="6B7280"/>
                </a:solidFill>
                <a:latin typeface="Calibri" pitchFamily="34" charset="0"/>
                <a:ea typeface="Calibri" pitchFamily="34" charset="-122"/>
                <a:cs typeface="Calibri" pitchFamily="34" charset="-120"/>
              </a:rPr>
              <a:t>Servos lock the door, open a window, or trigger a sprinkler — no human step required.</a:t>
            </a:r>
            <a:endParaRPr lang="en-US" sz="1100" dirty="0"/>
          </a:p>
        </p:txBody>
      </p:sp>
      <p:sp>
        <p:nvSpPr>
          <p:cNvPr id="29" name="Shape 27"/>
          <p:cNvSpPr/>
          <p:nvPr/>
        </p:nvSpPr>
        <p:spPr>
          <a:xfrm>
            <a:off x="8229600" y="4114800"/>
            <a:ext cx="3611880" cy="2148840"/>
          </a:xfrm>
          <a:prstGeom prst="roundRect">
            <a:avLst>
              <a:gd name="adj" fmla="val 3404"/>
            </a:avLst>
          </a:prstGeom>
          <a:solidFill>
            <a:srgbClr val="FFFFFF"/>
          </a:solidFill>
          <a:ln/>
          <a:effectLst>
            <a:outerShdw sx="100000" sy="100000" kx="0" ky="0" algn="bl" rotWithShape="0" blurRad="76200" dist="25400" dir="5400000">
              <a:srgbClr val="1B2A4A">
                <a:alpha val="18000"/>
              </a:srgbClr>
            </a:outerShdw>
          </a:effectLst>
        </p:spPr>
      </p:sp>
      <p:sp>
        <p:nvSpPr>
          <p:cNvPr id="30" name="Shape 28"/>
          <p:cNvSpPr/>
          <p:nvPr/>
        </p:nvSpPr>
        <p:spPr>
          <a:xfrm>
            <a:off x="8503920" y="4389120"/>
            <a:ext cx="502920" cy="502920"/>
          </a:xfrm>
          <a:prstGeom prst="ellipse">
            <a:avLst/>
          </a:prstGeom>
          <a:solidFill>
            <a:srgbClr val="14213D"/>
          </a:solidFill>
          <a:ln/>
        </p:spPr>
      </p:sp>
      <p:sp>
        <p:nvSpPr>
          <p:cNvPr id="31" name="Text 29"/>
          <p:cNvSpPr/>
          <p:nvPr/>
        </p:nvSpPr>
        <p:spPr>
          <a:xfrm>
            <a:off x="8503920" y="4389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p:nvPr/>
        </p:nvSpPr>
        <p:spPr>
          <a:xfrm>
            <a:off x="8503920" y="5029200"/>
            <a:ext cx="3063240" cy="365760"/>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Reset On Demand</a:t>
            </a:r>
            <a:endParaRPr lang="en-US" sz="1450" dirty="0"/>
          </a:p>
        </p:txBody>
      </p:sp>
      <p:sp>
        <p:nvSpPr>
          <p:cNvPr id="33" name="Text 31"/>
          <p:cNvSpPr/>
          <p:nvPr/>
        </p:nvSpPr>
        <p:spPr>
          <a:xfrm>
            <a:off x="8503920" y="5394960"/>
            <a:ext cx="3063240" cy="777240"/>
          </a:xfrm>
          <a:prstGeom prst="rect">
            <a:avLst/>
          </a:prstGeom>
          <a:noFill/>
          <a:ln/>
        </p:spPr>
        <p:txBody>
          <a:bodyPr wrap="square" lIns="0" tIns="0" rIns="0" bIns="0" rtlCol="0" anchor="ctr"/>
          <a:lstStyle/>
          <a:p>
            <a:pPr indent="0" marL="0">
              <a:lnSpc>
                <a:spcPct val="125000"/>
              </a:lnSpc>
              <a:buNone/>
            </a:pPr>
            <a:r>
              <a:rPr lang="en-US" sz="1100" dirty="0">
                <a:solidFill>
                  <a:srgbClr val="6B7280"/>
                </a:solidFill>
                <a:latin typeface="Calibri" pitchFamily="34" charset="0"/>
                <a:ea typeface="Calibri" pitchFamily="34" charset="-122"/>
                <a:cs typeface="Calibri" pitchFamily="34" charset="-120"/>
              </a:rPr>
              <a:t>A single push-button lets the homeowner clear an alert and re-arm the system.</a:t>
            </a:r>
            <a:endParaRPr lang="en-US" sz="1100" dirty="0"/>
          </a:p>
        </p:txBody>
      </p:sp>
      <p:sp>
        <p:nvSpPr>
          <p:cNvPr id="34" name="Text 32"/>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35" name="Text 33"/>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CORE COMPONENTS  ·  PART 1</a:t>
            </a:r>
            <a:endParaRPr lang="en-US" sz="13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Sensing the Danger</a:t>
            </a:r>
            <a:endParaRPr lang="en-US" sz="3200" dirty="0"/>
          </a:p>
        </p:txBody>
      </p:sp>
      <p:sp>
        <p:nvSpPr>
          <p:cNvPr id="4" name="Text 2"/>
          <p:cNvSpPr/>
          <p:nvPr/>
        </p:nvSpPr>
        <p:spPr>
          <a:xfrm>
            <a:off x="548640" y="1417320"/>
            <a:ext cx="10789920" cy="502920"/>
          </a:xfrm>
          <a:prstGeom prst="rect">
            <a:avLst/>
          </a:prstGeom>
          <a:noFill/>
          <a:ln/>
        </p:spPr>
        <p:txBody>
          <a:bodyPr wrap="square" lIns="0" tIns="0" rIns="0" bIns="0"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Three sensors continuously feed real-world conditions into the Arduino Uno's analog and digital inputs.</a:t>
            </a:r>
            <a:endParaRPr lang="en-US" sz="1350" dirty="0"/>
          </a:p>
        </p:txBody>
      </p:sp>
      <p:sp>
        <p:nvSpPr>
          <p:cNvPr id="5" name="Shape 3"/>
          <p:cNvSpPr/>
          <p:nvPr/>
        </p:nvSpPr>
        <p:spPr>
          <a:xfrm>
            <a:off x="548640" y="2103120"/>
            <a:ext cx="3550920" cy="4160520"/>
          </a:xfrm>
          <a:prstGeom prst="roundRect">
            <a:avLst>
              <a:gd name="adj" fmla="val 2060"/>
            </a:avLst>
          </a:prstGeom>
          <a:solidFill>
            <a:srgbClr val="FFFFFF"/>
          </a:solidFill>
          <a:ln/>
          <a:effectLst>
            <a:outerShdw sx="100000" sy="100000" kx="0" ky="0" algn="bl" rotWithShape="0" blurRad="76200" dist="25400" dir="5400000">
              <a:srgbClr val="1B2A4A">
                <a:alpha val="18000"/>
              </a:srgbClr>
            </a:outerShdw>
          </a:effectLst>
        </p:spPr>
      </p:sp>
      <p:sp>
        <p:nvSpPr>
          <p:cNvPr id="6" name="Shape 4"/>
          <p:cNvSpPr/>
          <p:nvPr/>
        </p:nvSpPr>
        <p:spPr>
          <a:xfrm>
            <a:off x="1912620" y="2423160"/>
            <a:ext cx="822960" cy="822960"/>
          </a:xfrm>
          <a:prstGeom prst="ellipse">
            <a:avLst/>
          </a:prstGeom>
          <a:solidFill>
            <a:srgbClr val="14213D"/>
          </a:solidFill>
          <a:ln/>
        </p:spPr>
      </p:sp>
      <p:sp>
        <p:nvSpPr>
          <p:cNvPr id="7" name="Text 5"/>
          <p:cNvSpPr/>
          <p:nvPr/>
        </p:nvSpPr>
        <p:spPr>
          <a:xfrm>
            <a:off x="191262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PIR</a:t>
            </a:r>
            <a:endParaRPr lang="en-US" sz="1500" dirty="0"/>
          </a:p>
        </p:txBody>
      </p:sp>
      <p:sp>
        <p:nvSpPr>
          <p:cNvPr id="8" name="Text 6"/>
          <p:cNvSpPr/>
          <p:nvPr/>
        </p:nvSpPr>
        <p:spPr>
          <a:xfrm>
            <a:off x="731520" y="3383280"/>
            <a:ext cx="318516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PIR Motion Sensor</a:t>
            </a:r>
            <a:endParaRPr lang="en-US" sz="1500" dirty="0"/>
          </a:p>
        </p:txBody>
      </p:sp>
      <p:sp>
        <p:nvSpPr>
          <p:cNvPr id="9" name="Text 7"/>
          <p:cNvSpPr/>
          <p:nvPr/>
        </p:nvSpPr>
        <p:spPr>
          <a:xfrm>
            <a:off x="731520" y="3886200"/>
            <a:ext cx="3185160" cy="320040"/>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OUT → Digital Pin D5</a:t>
            </a:r>
            <a:endParaRPr lang="en-US" sz="1100" dirty="0"/>
          </a:p>
        </p:txBody>
      </p:sp>
      <p:sp>
        <p:nvSpPr>
          <p:cNvPr id="10" name="Text 8"/>
          <p:cNvSpPr/>
          <p:nvPr/>
        </p:nvSpPr>
        <p:spPr>
          <a:xfrm>
            <a:off x="777240" y="4297680"/>
            <a:ext cx="309372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A passive infrared sensor that detects the body heat of moving people. It watches for intrusion whenever the system is armed and reports a simple HIGH/LOW signal.</a:t>
            </a:r>
            <a:endParaRPr lang="en-US" sz="1100" dirty="0"/>
          </a:p>
        </p:txBody>
      </p:sp>
      <p:sp>
        <p:nvSpPr>
          <p:cNvPr id="11" name="Shape 9"/>
          <p:cNvSpPr/>
          <p:nvPr/>
        </p:nvSpPr>
        <p:spPr>
          <a:xfrm>
            <a:off x="4328160" y="2103120"/>
            <a:ext cx="3550920" cy="4160520"/>
          </a:xfrm>
          <a:prstGeom prst="roundRect">
            <a:avLst>
              <a:gd name="adj" fmla="val 2060"/>
            </a:avLst>
          </a:prstGeom>
          <a:solidFill>
            <a:srgbClr val="FFFFFF"/>
          </a:solidFill>
          <a:ln/>
          <a:effectLst>
            <a:outerShdw sx="100000" sy="100000" kx="0" ky="0" algn="bl" rotWithShape="0" blurRad="76200" dist="25400" dir="5400000">
              <a:srgbClr val="1B2A4A">
                <a:alpha val="18000"/>
              </a:srgbClr>
            </a:outerShdw>
          </a:effectLst>
        </p:spPr>
      </p:sp>
      <p:sp>
        <p:nvSpPr>
          <p:cNvPr id="12" name="Shape 10"/>
          <p:cNvSpPr/>
          <p:nvPr/>
        </p:nvSpPr>
        <p:spPr>
          <a:xfrm>
            <a:off x="5692140" y="2423160"/>
            <a:ext cx="822960" cy="822960"/>
          </a:xfrm>
          <a:prstGeom prst="ellipse">
            <a:avLst/>
          </a:prstGeom>
          <a:solidFill>
            <a:srgbClr val="E08E45"/>
          </a:solidFill>
          <a:ln/>
        </p:spPr>
      </p:sp>
      <p:sp>
        <p:nvSpPr>
          <p:cNvPr id="13" name="Text 11"/>
          <p:cNvSpPr/>
          <p:nvPr/>
        </p:nvSpPr>
        <p:spPr>
          <a:xfrm>
            <a:off x="569214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MQ2</a:t>
            </a:r>
            <a:endParaRPr lang="en-US" sz="1500" dirty="0"/>
          </a:p>
        </p:txBody>
      </p:sp>
      <p:sp>
        <p:nvSpPr>
          <p:cNvPr id="14" name="Text 12"/>
          <p:cNvSpPr/>
          <p:nvPr/>
        </p:nvSpPr>
        <p:spPr>
          <a:xfrm>
            <a:off x="4511040" y="3383280"/>
            <a:ext cx="318516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MQ2 Gas Sensor Element</a:t>
            </a:r>
            <a:endParaRPr lang="en-US" sz="1500" dirty="0"/>
          </a:p>
        </p:txBody>
      </p:sp>
      <p:sp>
        <p:nvSpPr>
          <p:cNvPr id="15" name="Text 13"/>
          <p:cNvSpPr/>
          <p:nvPr/>
        </p:nvSpPr>
        <p:spPr>
          <a:xfrm>
            <a:off x="4511040" y="3886200"/>
            <a:ext cx="3185160" cy="320040"/>
          </a:xfrm>
          <a:prstGeom prst="rect">
            <a:avLst/>
          </a:prstGeom>
          <a:noFill/>
          <a:ln/>
        </p:spPr>
        <p:txBody>
          <a:bodyPr wrap="square" lIns="0" tIns="0" rIns="0" bIns="0" rtlCol="0" anchor="ctr"/>
          <a:lstStyle/>
          <a:p>
            <a:pPr algn="ctr" indent="0" marL="0">
              <a:buNone/>
            </a:pPr>
            <a:r>
              <a:rPr lang="en-US" sz="1100" b="1" dirty="0">
                <a:solidFill>
                  <a:srgbClr val="E08E45"/>
                </a:solidFill>
                <a:latin typeface="Calibri" pitchFamily="34" charset="0"/>
                <a:ea typeface="Calibri" pitchFamily="34" charset="-122"/>
                <a:cs typeface="Calibri" pitchFamily="34" charset="-120"/>
              </a:rPr>
              <a:t>Signal → Analog Pin A4</a:t>
            </a:r>
            <a:endParaRPr lang="en-US" sz="1100" dirty="0"/>
          </a:p>
        </p:txBody>
      </p:sp>
      <p:sp>
        <p:nvSpPr>
          <p:cNvPr id="16" name="Text 14"/>
          <p:cNvSpPr/>
          <p:nvPr/>
        </p:nvSpPr>
        <p:spPr>
          <a:xfrm>
            <a:off x="4556760" y="4297680"/>
            <a:ext cx="309372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A raw 6-pin gas-sensing element (heater + resistive divider). Paired with a 10kΩ load resistor, it outputs a variable voltage that rises as gas concentration increases.</a:t>
            </a:r>
            <a:endParaRPr lang="en-US" sz="1100" dirty="0"/>
          </a:p>
        </p:txBody>
      </p:sp>
      <p:sp>
        <p:nvSpPr>
          <p:cNvPr id="17" name="Shape 15"/>
          <p:cNvSpPr/>
          <p:nvPr/>
        </p:nvSpPr>
        <p:spPr>
          <a:xfrm>
            <a:off x="8107680" y="2103120"/>
            <a:ext cx="3550920" cy="4160520"/>
          </a:xfrm>
          <a:prstGeom prst="roundRect">
            <a:avLst>
              <a:gd name="adj" fmla="val 2060"/>
            </a:avLst>
          </a:prstGeom>
          <a:solidFill>
            <a:srgbClr val="FFFFFF"/>
          </a:solidFill>
          <a:ln/>
          <a:effectLst>
            <a:outerShdw sx="100000" sy="100000" kx="0" ky="0" algn="bl" rotWithShape="0" blurRad="76200" dist="25400" dir="5400000">
              <a:srgbClr val="1B2A4A">
                <a:alpha val="18000"/>
              </a:srgbClr>
            </a:outerShdw>
          </a:effectLst>
        </p:spPr>
      </p:sp>
      <p:sp>
        <p:nvSpPr>
          <p:cNvPr id="18" name="Shape 16"/>
          <p:cNvSpPr/>
          <p:nvPr/>
        </p:nvSpPr>
        <p:spPr>
          <a:xfrm>
            <a:off x="9471660" y="2423160"/>
            <a:ext cx="822960" cy="822960"/>
          </a:xfrm>
          <a:prstGeom prst="ellipse">
            <a:avLst/>
          </a:prstGeom>
          <a:solidFill>
            <a:srgbClr val="E63946"/>
          </a:solidFill>
          <a:ln/>
        </p:spPr>
      </p:sp>
      <p:sp>
        <p:nvSpPr>
          <p:cNvPr id="19" name="Text 17"/>
          <p:cNvSpPr/>
          <p:nvPr/>
        </p:nvSpPr>
        <p:spPr>
          <a:xfrm>
            <a:off x="947166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TMP</a:t>
            </a:r>
            <a:endParaRPr lang="en-US" sz="1500" dirty="0"/>
          </a:p>
        </p:txBody>
      </p:sp>
      <p:sp>
        <p:nvSpPr>
          <p:cNvPr id="20" name="Text 18"/>
          <p:cNvSpPr/>
          <p:nvPr/>
        </p:nvSpPr>
        <p:spPr>
          <a:xfrm>
            <a:off x="8290560" y="3383280"/>
            <a:ext cx="318516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TMP36 Temperature Sensor</a:t>
            </a:r>
            <a:endParaRPr lang="en-US" sz="1500" dirty="0"/>
          </a:p>
        </p:txBody>
      </p:sp>
      <p:sp>
        <p:nvSpPr>
          <p:cNvPr id="21" name="Text 19"/>
          <p:cNvSpPr/>
          <p:nvPr/>
        </p:nvSpPr>
        <p:spPr>
          <a:xfrm>
            <a:off x="8290560" y="3886200"/>
            <a:ext cx="3185160" cy="320040"/>
          </a:xfrm>
          <a:prstGeom prst="rect">
            <a:avLst/>
          </a:prstGeom>
          <a:noFill/>
          <a:ln/>
        </p:spPr>
        <p:txBody>
          <a:bodyPr wrap="square" lIns="0" tIns="0" rIns="0" bIns="0" rtlCol="0" anchor="ctr"/>
          <a:lstStyle/>
          <a:p>
            <a:pPr algn="ctr" indent="0" marL="0">
              <a:buNone/>
            </a:pPr>
            <a:r>
              <a:rPr lang="en-US" sz="1100" b="1" dirty="0">
                <a:solidFill>
                  <a:srgbClr val="E63946"/>
                </a:solidFill>
                <a:latin typeface="Calibri" pitchFamily="34" charset="0"/>
                <a:ea typeface="Calibri" pitchFamily="34" charset="-122"/>
                <a:cs typeface="Calibri" pitchFamily="34" charset="-120"/>
              </a:rPr>
              <a:t>OUT → Analog Pin A5</a:t>
            </a:r>
            <a:endParaRPr lang="en-US" sz="1100" dirty="0"/>
          </a:p>
        </p:txBody>
      </p:sp>
      <p:sp>
        <p:nvSpPr>
          <p:cNvPr id="22" name="Text 20"/>
          <p:cNvSpPr/>
          <p:nvPr/>
        </p:nvSpPr>
        <p:spPr>
          <a:xfrm>
            <a:off x="8336280" y="4297680"/>
            <a:ext cx="309372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A precision analog temperature sensor. Its output voltage converts directly to °C, acting as the project's stand-in for a real fire/heat detector.</a:t>
            </a:r>
            <a:endParaRPr lang="en-US" sz="1100" dirty="0"/>
          </a:p>
        </p:txBody>
      </p:sp>
      <p:sp>
        <p:nvSpPr>
          <p:cNvPr id="23" name="Text 21"/>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24" name="Text 22"/>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CORE COMPONENTS  ·  PART 2</a:t>
            </a:r>
            <a:endParaRPr lang="en-US" sz="13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Taking Action Automatically</a:t>
            </a:r>
            <a:endParaRPr lang="en-US" sz="3200" dirty="0"/>
          </a:p>
        </p:txBody>
      </p:sp>
      <p:sp>
        <p:nvSpPr>
          <p:cNvPr id="4" name="Text 2"/>
          <p:cNvSpPr/>
          <p:nvPr/>
        </p:nvSpPr>
        <p:spPr>
          <a:xfrm>
            <a:off x="548640" y="1417320"/>
            <a:ext cx="10789920" cy="502920"/>
          </a:xfrm>
          <a:prstGeom prst="rect">
            <a:avLst/>
          </a:prstGeom>
          <a:noFill/>
          <a:ln/>
        </p:spPr>
        <p:txBody>
          <a:bodyPr wrap="square" lIns="0" tIns="0" rIns="0" bIns="0"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Once a hazard is confirmed, these actuators carry out the physical safety response — no human step required.</a:t>
            </a:r>
            <a:endParaRPr lang="en-US" sz="1350" dirty="0"/>
          </a:p>
        </p:txBody>
      </p:sp>
      <p:sp>
        <p:nvSpPr>
          <p:cNvPr id="5" name="Shape 3"/>
          <p:cNvSpPr/>
          <p:nvPr/>
        </p:nvSpPr>
        <p:spPr>
          <a:xfrm>
            <a:off x="548640" y="2103120"/>
            <a:ext cx="2606040" cy="4160520"/>
          </a:xfrm>
          <a:prstGeom prst="roundRect">
            <a:avLst>
              <a:gd name="adj" fmla="val 2807"/>
            </a:avLst>
          </a:prstGeom>
          <a:solidFill>
            <a:srgbClr val="FFFFFF"/>
          </a:solidFill>
          <a:ln/>
          <a:effectLst>
            <a:outerShdw sx="100000" sy="100000" kx="0" ky="0" algn="bl" rotWithShape="0" blurRad="76200" dist="25400" dir="5400000">
              <a:srgbClr val="1B2A4A">
                <a:alpha val="18000"/>
              </a:srgbClr>
            </a:outerShdw>
          </a:effectLst>
        </p:spPr>
      </p:sp>
      <p:sp>
        <p:nvSpPr>
          <p:cNvPr id="6" name="Shape 4"/>
          <p:cNvSpPr/>
          <p:nvPr/>
        </p:nvSpPr>
        <p:spPr>
          <a:xfrm>
            <a:off x="1440180" y="2423160"/>
            <a:ext cx="822960" cy="822960"/>
          </a:xfrm>
          <a:prstGeom prst="ellipse">
            <a:avLst/>
          </a:prstGeom>
          <a:solidFill>
            <a:srgbClr val="14213D"/>
          </a:solidFill>
          <a:ln/>
        </p:spPr>
      </p:sp>
      <p:sp>
        <p:nvSpPr>
          <p:cNvPr id="7" name="Text 5"/>
          <p:cNvSpPr/>
          <p:nvPr/>
        </p:nvSpPr>
        <p:spPr>
          <a:xfrm>
            <a:off x="144018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S1</a:t>
            </a:r>
            <a:endParaRPr lang="en-US" sz="1500" dirty="0"/>
          </a:p>
        </p:txBody>
      </p:sp>
      <p:sp>
        <p:nvSpPr>
          <p:cNvPr id="8" name="Text 6"/>
          <p:cNvSpPr/>
          <p:nvPr/>
        </p:nvSpPr>
        <p:spPr>
          <a:xfrm>
            <a:off x="731520" y="3383280"/>
            <a:ext cx="224028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Servo 1 — Door Lock</a:t>
            </a:r>
            <a:endParaRPr lang="en-US" sz="1500" dirty="0"/>
          </a:p>
        </p:txBody>
      </p:sp>
      <p:sp>
        <p:nvSpPr>
          <p:cNvPr id="9" name="Text 7"/>
          <p:cNvSpPr/>
          <p:nvPr/>
        </p:nvSpPr>
        <p:spPr>
          <a:xfrm>
            <a:off x="731520" y="3886200"/>
            <a:ext cx="2240280" cy="320040"/>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Signal → D9</a:t>
            </a:r>
            <a:endParaRPr lang="en-US" sz="1100" dirty="0"/>
          </a:p>
        </p:txBody>
      </p:sp>
      <p:sp>
        <p:nvSpPr>
          <p:cNvPr id="10" name="Text 8"/>
          <p:cNvSpPr/>
          <p:nvPr/>
        </p:nvSpPr>
        <p:spPr>
          <a:xfrm>
            <a:off x="777240" y="4297680"/>
            <a:ext cx="214884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Rotates to 90° to lock the main door the instant an intruder or breach is detected, and returns to 0° in Safe Mode.</a:t>
            </a:r>
            <a:endParaRPr lang="en-US" sz="1100" dirty="0"/>
          </a:p>
        </p:txBody>
      </p:sp>
      <p:sp>
        <p:nvSpPr>
          <p:cNvPr id="11" name="Shape 9"/>
          <p:cNvSpPr/>
          <p:nvPr/>
        </p:nvSpPr>
        <p:spPr>
          <a:xfrm>
            <a:off x="3383280" y="2103120"/>
            <a:ext cx="2606040" cy="4160520"/>
          </a:xfrm>
          <a:prstGeom prst="roundRect">
            <a:avLst>
              <a:gd name="adj" fmla="val 2807"/>
            </a:avLst>
          </a:prstGeom>
          <a:solidFill>
            <a:srgbClr val="FFFFFF"/>
          </a:solidFill>
          <a:ln/>
          <a:effectLst>
            <a:outerShdw sx="100000" sy="100000" kx="0" ky="0" algn="bl" rotWithShape="0" blurRad="76200" dist="25400" dir="5400000">
              <a:srgbClr val="1B2A4A">
                <a:alpha val="18000"/>
              </a:srgbClr>
            </a:outerShdw>
          </a:effectLst>
        </p:spPr>
      </p:sp>
      <p:sp>
        <p:nvSpPr>
          <p:cNvPr id="12" name="Shape 10"/>
          <p:cNvSpPr/>
          <p:nvPr/>
        </p:nvSpPr>
        <p:spPr>
          <a:xfrm>
            <a:off x="4274820" y="2423160"/>
            <a:ext cx="822960" cy="822960"/>
          </a:xfrm>
          <a:prstGeom prst="ellipse">
            <a:avLst/>
          </a:prstGeom>
          <a:solidFill>
            <a:srgbClr val="E08E45"/>
          </a:solidFill>
          <a:ln/>
        </p:spPr>
      </p:sp>
      <p:sp>
        <p:nvSpPr>
          <p:cNvPr id="13" name="Text 11"/>
          <p:cNvSpPr/>
          <p:nvPr/>
        </p:nvSpPr>
        <p:spPr>
          <a:xfrm>
            <a:off x="427482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S2</a:t>
            </a:r>
            <a:endParaRPr lang="en-US" sz="1500" dirty="0"/>
          </a:p>
        </p:txBody>
      </p:sp>
      <p:sp>
        <p:nvSpPr>
          <p:cNvPr id="14" name="Text 12"/>
          <p:cNvSpPr/>
          <p:nvPr/>
        </p:nvSpPr>
        <p:spPr>
          <a:xfrm>
            <a:off x="3566160" y="3383280"/>
            <a:ext cx="224028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Servo 2 — Window</a:t>
            </a:r>
            <a:endParaRPr lang="en-US" sz="1500" dirty="0"/>
          </a:p>
        </p:txBody>
      </p:sp>
      <p:sp>
        <p:nvSpPr>
          <p:cNvPr id="15" name="Text 13"/>
          <p:cNvSpPr/>
          <p:nvPr/>
        </p:nvSpPr>
        <p:spPr>
          <a:xfrm>
            <a:off x="3566160" y="3886200"/>
            <a:ext cx="2240280" cy="320040"/>
          </a:xfrm>
          <a:prstGeom prst="rect">
            <a:avLst/>
          </a:prstGeom>
          <a:noFill/>
          <a:ln/>
        </p:spPr>
        <p:txBody>
          <a:bodyPr wrap="square" lIns="0" tIns="0" rIns="0" bIns="0" rtlCol="0" anchor="ctr"/>
          <a:lstStyle/>
          <a:p>
            <a:pPr algn="ctr" indent="0" marL="0">
              <a:buNone/>
            </a:pPr>
            <a:r>
              <a:rPr lang="en-US" sz="1100" b="1" dirty="0">
                <a:solidFill>
                  <a:srgbClr val="E08E45"/>
                </a:solidFill>
                <a:latin typeface="Calibri" pitchFamily="34" charset="0"/>
                <a:ea typeface="Calibri" pitchFamily="34" charset="-122"/>
                <a:cs typeface="Calibri" pitchFamily="34" charset="-120"/>
              </a:rPr>
              <a:t>Signal → D10</a:t>
            </a:r>
            <a:endParaRPr lang="en-US" sz="1100" dirty="0"/>
          </a:p>
        </p:txBody>
      </p:sp>
      <p:sp>
        <p:nvSpPr>
          <p:cNvPr id="16" name="Text 14"/>
          <p:cNvSpPr/>
          <p:nvPr/>
        </p:nvSpPr>
        <p:spPr>
          <a:xfrm>
            <a:off x="3611880" y="4297680"/>
            <a:ext cx="214884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Opens to 90° during a gas leak to ventilate the room and reduce the risk of poisoning or explosion.</a:t>
            </a:r>
            <a:endParaRPr lang="en-US" sz="1100" dirty="0"/>
          </a:p>
        </p:txBody>
      </p:sp>
      <p:sp>
        <p:nvSpPr>
          <p:cNvPr id="17" name="Shape 15"/>
          <p:cNvSpPr/>
          <p:nvPr/>
        </p:nvSpPr>
        <p:spPr>
          <a:xfrm>
            <a:off x="6217920" y="2103120"/>
            <a:ext cx="2606040" cy="4160520"/>
          </a:xfrm>
          <a:prstGeom prst="roundRect">
            <a:avLst>
              <a:gd name="adj" fmla="val 2807"/>
            </a:avLst>
          </a:prstGeom>
          <a:solidFill>
            <a:srgbClr val="FFFFFF"/>
          </a:solidFill>
          <a:ln/>
          <a:effectLst>
            <a:outerShdw sx="100000" sy="100000" kx="0" ky="0" algn="bl" rotWithShape="0" blurRad="76200" dist="25400" dir="5400000">
              <a:srgbClr val="1B2A4A">
                <a:alpha val="18000"/>
              </a:srgbClr>
            </a:outerShdw>
          </a:effectLst>
        </p:spPr>
      </p:sp>
      <p:sp>
        <p:nvSpPr>
          <p:cNvPr id="18" name="Shape 16"/>
          <p:cNvSpPr/>
          <p:nvPr/>
        </p:nvSpPr>
        <p:spPr>
          <a:xfrm>
            <a:off x="7109460" y="2423160"/>
            <a:ext cx="822960" cy="822960"/>
          </a:xfrm>
          <a:prstGeom prst="ellipse">
            <a:avLst/>
          </a:prstGeom>
          <a:solidFill>
            <a:srgbClr val="E63946"/>
          </a:solidFill>
          <a:ln/>
        </p:spPr>
      </p:sp>
      <p:sp>
        <p:nvSpPr>
          <p:cNvPr id="19" name="Text 17"/>
          <p:cNvSpPr/>
          <p:nvPr/>
        </p:nvSpPr>
        <p:spPr>
          <a:xfrm>
            <a:off x="710946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S3</a:t>
            </a:r>
            <a:endParaRPr lang="en-US" sz="1500" dirty="0"/>
          </a:p>
        </p:txBody>
      </p:sp>
      <p:sp>
        <p:nvSpPr>
          <p:cNvPr id="20" name="Text 18"/>
          <p:cNvSpPr/>
          <p:nvPr/>
        </p:nvSpPr>
        <p:spPr>
          <a:xfrm>
            <a:off x="6400800" y="3383280"/>
            <a:ext cx="224028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Servo 3 — Sprinkler</a:t>
            </a:r>
            <a:endParaRPr lang="en-US" sz="1500" dirty="0"/>
          </a:p>
        </p:txBody>
      </p:sp>
      <p:sp>
        <p:nvSpPr>
          <p:cNvPr id="21" name="Text 19"/>
          <p:cNvSpPr/>
          <p:nvPr/>
        </p:nvSpPr>
        <p:spPr>
          <a:xfrm>
            <a:off x="6400800" y="3886200"/>
            <a:ext cx="2240280" cy="320040"/>
          </a:xfrm>
          <a:prstGeom prst="rect">
            <a:avLst/>
          </a:prstGeom>
          <a:noFill/>
          <a:ln/>
        </p:spPr>
        <p:txBody>
          <a:bodyPr wrap="square" lIns="0" tIns="0" rIns="0" bIns="0" rtlCol="0" anchor="ctr"/>
          <a:lstStyle/>
          <a:p>
            <a:pPr algn="ctr" indent="0" marL="0">
              <a:buNone/>
            </a:pPr>
            <a:r>
              <a:rPr lang="en-US" sz="1100" b="1" dirty="0">
                <a:solidFill>
                  <a:srgbClr val="E63946"/>
                </a:solidFill>
                <a:latin typeface="Calibri" pitchFamily="34" charset="0"/>
                <a:ea typeface="Calibri" pitchFamily="34" charset="-122"/>
                <a:cs typeface="Calibri" pitchFamily="34" charset="-120"/>
              </a:rPr>
              <a:t>Signal → D11</a:t>
            </a:r>
            <a:endParaRPr lang="en-US" sz="1100" dirty="0"/>
          </a:p>
        </p:txBody>
      </p:sp>
      <p:sp>
        <p:nvSpPr>
          <p:cNvPr id="22" name="Text 20"/>
          <p:cNvSpPr/>
          <p:nvPr/>
        </p:nvSpPr>
        <p:spPr>
          <a:xfrm>
            <a:off x="6446520" y="4297680"/>
            <a:ext cx="214884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Simulates a water valve, turning to 90° when the fire threshold is crossed to represent suppression activating.</a:t>
            </a:r>
            <a:endParaRPr lang="en-US" sz="1100" dirty="0"/>
          </a:p>
        </p:txBody>
      </p:sp>
      <p:sp>
        <p:nvSpPr>
          <p:cNvPr id="23" name="Shape 21"/>
          <p:cNvSpPr/>
          <p:nvPr/>
        </p:nvSpPr>
        <p:spPr>
          <a:xfrm>
            <a:off x="9052560" y="2103120"/>
            <a:ext cx="2606040" cy="4160520"/>
          </a:xfrm>
          <a:prstGeom prst="roundRect">
            <a:avLst>
              <a:gd name="adj" fmla="val 2807"/>
            </a:avLst>
          </a:prstGeom>
          <a:solidFill>
            <a:srgbClr val="FFFFFF"/>
          </a:solidFill>
          <a:ln/>
          <a:effectLst>
            <a:outerShdw sx="100000" sy="100000" kx="0" ky="0" algn="bl" rotWithShape="0" blurRad="76200" dist="25400" dir="5400000">
              <a:srgbClr val="1B2A4A">
                <a:alpha val="18000"/>
              </a:srgbClr>
            </a:outerShdw>
          </a:effectLst>
        </p:spPr>
      </p:sp>
      <p:sp>
        <p:nvSpPr>
          <p:cNvPr id="24" name="Shape 22"/>
          <p:cNvSpPr/>
          <p:nvPr/>
        </p:nvSpPr>
        <p:spPr>
          <a:xfrm>
            <a:off x="9944100" y="2423160"/>
            <a:ext cx="822960" cy="822960"/>
          </a:xfrm>
          <a:prstGeom prst="ellipse">
            <a:avLst/>
          </a:prstGeom>
          <a:solidFill>
            <a:srgbClr val="2A9D8F"/>
          </a:solidFill>
          <a:ln/>
        </p:spPr>
      </p:sp>
      <p:sp>
        <p:nvSpPr>
          <p:cNvPr id="25" name="Text 23"/>
          <p:cNvSpPr/>
          <p:nvPr/>
        </p:nvSpPr>
        <p:spPr>
          <a:xfrm>
            <a:off x="994410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BZ</a:t>
            </a:r>
            <a:endParaRPr lang="en-US" sz="1500" dirty="0"/>
          </a:p>
        </p:txBody>
      </p:sp>
      <p:sp>
        <p:nvSpPr>
          <p:cNvPr id="26" name="Text 24"/>
          <p:cNvSpPr/>
          <p:nvPr/>
        </p:nvSpPr>
        <p:spPr>
          <a:xfrm>
            <a:off x="9235440" y="3383280"/>
            <a:ext cx="224028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Buzzer + LEDs</a:t>
            </a:r>
            <a:endParaRPr lang="en-US" sz="1500" dirty="0"/>
          </a:p>
        </p:txBody>
      </p:sp>
      <p:sp>
        <p:nvSpPr>
          <p:cNvPr id="27" name="Text 25"/>
          <p:cNvSpPr/>
          <p:nvPr/>
        </p:nvSpPr>
        <p:spPr>
          <a:xfrm>
            <a:off x="9235440" y="3886200"/>
            <a:ext cx="2240280" cy="320040"/>
          </a:xfrm>
          <a:prstGeom prst="rect">
            <a:avLst/>
          </a:prstGeom>
          <a:noFill/>
          <a:ln/>
        </p:spPr>
        <p:txBody>
          <a:bodyPr wrap="square" lIns="0" tIns="0" rIns="0" bIns="0" rtlCol="0" anchor="ctr"/>
          <a:lstStyle/>
          <a:p>
            <a:pPr algn="ctr" indent="0" marL="0">
              <a:buNone/>
            </a:pPr>
            <a:r>
              <a:rPr lang="en-US" sz="1100" b="1" dirty="0">
                <a:solidFill>
                  <a:srgbClr val="2A9D8F"/>
                </a:solidFill>
                <a:latin typeface="Calibri" pitchFamily="34" charset="0"/>
                <a:ea typeface="Calibri" pitchFamily="34" charset="-122"/>
                <a:cs typeface="Calibri" pitchFamily="34" charset="-120"/>
              </a:rPr>
              <a:t>D4  ·  D2 (red)  ·  D3 (green)</a:t>
            </a:r>
            <a:endParaRPr lang="en-US" sz="1100" dirty="0"/>
          </a:p>
        </p:txBody>
      </p:sp>
      <p:sp>
        <p:nvSpPr>
          <p:cNvPr id="28" name="Text 26"/>
          <p:cNvSpPr/>
          <p:nvPr/>
        </p:nvSpPr>
        <p:spPr>
          <a:xfrm>
            <a:off x="9281160" y="4297680"/>
            <a:ext cx="214884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The buzzer tones at a different pitch per hazard; the red/green LEDs give an at-a-glance danger/safe status.</a:t>
            </a:r>
            <a:endParaRPr lang="en-US" sz="1100" dirty="0"/>
          </a:p>
        </p:txBody>
      </p:sp>
      <p:sp>
        <p:nvSpPr>
          <p:cNvPr id="29" name="Text 27"/>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30" name="Text 2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CORE COMPONENTS  ·  PART 3</a:t>
            </a:r>
            <a:endParaRPr lang="en-US" sz="13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Control, Display &amp; Interface</a:t>
            </a:r>
            <a:endParaRPr lang="en-US" sz="3200" dirty="0"/>
          </a:p>
        </p:txBody>
      </p:sp>
      <p:sp>
        <p:nvSpPr>
          <p:cNvPr id="4" name="Text 2"/>
          <p:cNvSpPr/>
          <p:nvPr/>
        </p:nvSpPr>
        <p:spPr>
          <a:xfrm>
            <a:off x="548640" y="1417320"/>
            <a:ext cx="10789920" cy="502920"/>
          </a:xfrm>
          <a:prstGeom prst="rect">
            <a:avLst/>
          </a:prstGeom>
          <a:noFill/>
          <a:ln/>
        </p:spPr>
        <p:txBody>
          <a:bodyPr wrap="square" lIns="0" tIns="0" rIns="0" bIns="0"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The brain of the system, plus everything the homeowner directly sees and touches.</a:t>
            </a:r>
            <a:endParaRPr lang="en-US" sz="1350" dirty="0"/>
          </a:p>
        </p:txBody>
      </p:sp>
      <p:sp>
        <p:nvSpPr>
          <p:cNvPr id="5" name="Shape 3"/>
          <p:cNvSpPr/>
          <p:nvPr/>
        </p:nvSpPr>
        <p:spPr>
          <a:xfrm>
            <a:off x="548640" y="2103120"/>
            <a:ext cx="2606040" cy="4160520"/>
          </a:xfrm>
          <a:prstGeom prst="roundRect">
            <a:avLst>
              <a:gd name="adj" fmla="val 2807"/>
            </a:avLst>
          </a:prstGeom>
          <a:solidFill>
            <a:srgbClr val="FFFFFF"/>
          </a:solidFill>
          <a:ln/>
          <a:effectLst>
            <a:outerShdw sx="100000" sy="100000" kx="0" ky="0" algn="bl" rotWithShape="0" blurRad="76200" dist="25400" dir="5400000">
              <a:srgbClr val="1B2A4A">
                <a:alpha val="18000"/>
              </a:srgbClr>
            </a:outerShdw>
          </a:effectLst>
        </p:spPr>
      </p:sp>
      <p:sp>
        <p:nvSpPr>
          <p:cNvPr id="6" name="Shape 4"/>
          <p:cNvSpPr/>
          <p:nvPr/>
        </p:nvSpPr>
        <p:spPr>
          <a:xfrm>
            <a:off x="1440180" y="2423160"/>
            <a:ext cx="822960" cy="822960"/>
          </a:xfrm>
          <a:prstGeom prst="ellipse">
            <a:avLst/>
          </a:prstGeom>
          <a:solidFill>
            <a:srgbClr val="3A86FF"/>
          </a:solidFill>
          <a:ln/>
        </p:spPr>
      </p:sp>
      <p:sp>
        <p:nvSpPr>
          <p:cNvPr id="7" name="Text 5"/>
          <p:cNvSpPr/>
          <p:nvPr/>
        </p:nvSpPr>
        <p:spPr>
          <a:xfrm>
            <a:off x="144018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UNO</a:t>
            </a:r>
            <a:endParaRPr lang="en-US" sz="1500" dirty="0"/>
          </a:p>
        </p:txBody>
      </p:sp>
      <p:sp>
        <p:nvSpPr>
          <p:cNvPr id="8" name="Text 6"/>
          <p:cNvSpPr/>
          <p:nvPr/>
        </p:nvSpPr>
        <p:spPr>
          <a:xfrm>
            <a:off x="731520" y="3383280"/>
            <a:ext cx="224028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Arduino Uno</a:t>
            </a:r>
            <a:endParaRPr lang="en-US" sz="1500" dirty="0"/>
          </a:p>
        </p:txBody>
      </p:sp>
      <p:sp>
        <p:nvSpPr>
          <p:cNvPr id="9" name="Text 7"/>
          <p:cNvSpPr/>
          <p:nvPr/>
        </p:nvSpPr>
        <p:spPr>
          <a:xfrm>
            <a:off x="731520" y="3886200"/>
            <a:ext cx="2240280" cy="320040"/>
          </a:xfrm>
          <a:prstGeom prst="rect">
            <a:avLst/>
          </a:prstGeom>
          <a:noFill/>
          <a:ln/>
        </p:spPr>
        <p:txBody>
          <a:bodyPr wrap="square" lIns="0" tIns="0" rIns="0" bIns="0" rtlCol="0" anchor="ctr"/>
          <a:lstStyle/>
          <a:p>
            <a:pPr algn="ctr" indent="0" marL="0">
              <a:buNone/>
            </a:pPr>
            <a:r>
              <a:rPr lang="en-US" sz="1100" b="1" dirty="0">
                <a:solidFill>
                  <a:srgbClr val="3A86FF"/>
                </a:solidFill>
                <a:latin typeface="Calibri" pitchFamily="34" charset="0"/>
                <a:ea typeface="Calibri" pitchFamily="34" charset="-122"/>
                <a:cs typeface="Calibri" pitchFamily="34" charset="-120"/>
              </a:rPr>
              <a:t>Central microcontroller</a:t>
            </a:r>
            <a:endParaRPr lang="en-US" sz="1100" dirty="0"/>
          </a:p>
        </p:txBody>
      </p:sp>
      <p:sp>
        <p:nvSpPr>
          <p:cNvPr id="10" name="Text 8"/>
          <p:cNvSpPr/>
          <p:nvPr/>
        </p:nvSpPr>
        <p:spPr>
          <a:xfrm>
            <a:off x="777240" y="4297680"/>
            <a:ext cx="214884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Reads every sensor, runs the decision logic each loop cycle, and drives every actuator and display in the circuit.</a:t>
            </a:r>
            <a:endParaRPr lang="en-US" sz="1100" dirty="0"/>
          </a:p>
        </p:txBody>
      </p:sp>
      <p:sp>
        <p:nvSpPr>
          <p:cNvPr id="11" name="Shape 9"/>
          <p:cNvSpPr/>
          <p:nvPr/>
        </p:nvSpPr>
        <p:spPr>
          <a:xfrm>
            <a:off x="3383280" y="2103120"/>
            <a:ext cx="2606040" cy="4160520"/>
          </a:xfrm>
          <a:prstGeom prst="roundRect">
            <a:avLst>
              <a:gd name="adj" fmla="val 2807"/>
            </a:avLst>
          </a:prstGeom>
          <a:solidFill>
            <a:srgbClr val="FFFFFF"/>
          </a:solidFill>
          <a:ln/>
          <a:effectLst>
            <a:outerShdw sx="100000" sy="100000" kx="0" ky="0" algn="bl" rotWithShape="0" blurRad="76200" dist="25400" dir="5400000">
              <a:srgbClr val="1B2A4A">
                <a:alpha val="18000"/>
              </a:srgbClr>
            </a:outerShdw>
          </a:effectLst>
        </p:spPr>
      </p:sp>
      <p:sp>
        <p:nvSpPr>
          <p:cNvPr id="12" name="Shape 10"/>
          <p:cNvSpPr/>
          <p:nvPr/>
        </p:nvSpPr>
        <p:spPr>
          <a:xfrm>
            <a:off x="4274820" y="2423160"/>
            <a:ext cx="822960" cy="822960"/>
          </a:xfrm>
          <a:prstGeom prst="ellipse">
            <a:avLst/>
          </a:prstGeom>
          <a:solidFill>
            <a:srgbClr val="14213D"/>
          </a:solidFill>
          <a:ln/>
        </p:spPr>
      </p:sp>
      <p:sp>
        <p:nvSpPr>
          <p:cNvPr id="13" name="Text 11"/>
          <p:cNvSpPr/>
          <p:nvPr/>
        </p:nvSpPr>
        <p:spPr>
          <a:xfrm>
            <a:off x="427482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LCD</a:t>
            </a:r>
            <a:endParaRPr lang="en-US" sz="1500" dirty="0"/>
          </a:p>
        </p:txBody>
      </p:sp>
      <p:sp>
        <p:nvSpPr>
          <p:cNvPr id="14" name="Text 12"/>
          <p:cNvSpPr/>
          <p:nvPr/>
        </p:nvSpPr>
        <p:spPr>
          <a:xfrm>
            <a:off x="3566160" y="3383280"/>
            <a:ext cx="224028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16×2 LCD Display</a:t>
            </a:r>
            <a:endParaRPr lang="en-US" sz="1500" dirty="0"/>
          </a:p>
        </p:txBody>
      </p:sp>
      <p:sp>
        <p:nvSpPr>
          <p:cNvPr id="15" name="Text 13"/>
          <p:cNvSpPr/>
          <p:nvPr/>
        </p:nvSpPr>
        <p:spPr>
          <a:xfrm>
            <a:off x="3566160" y="3886200"/>
            <a:ext cx="2240280" cy="320040"/>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RS→D12, E→D13, D4–D7→A0–A3</a:t>
            </a:r>
            <a:endParaRPr lang="en-US" sz="1100" dirty="0"/>
          </a:p>
        </p:txBody>
      </p:sp>
      <p:sp>
        <p:nvSpPr>
          <p:cNvPr id="16" name="Text 14"/>
          <p:cNvSpPr/>
          <p:nvPr/>
        </p:nvSpPr>
        <p:spPr>
          <a:xfrm>
            <a:off x="3611880" y="4297680"/>
            <a:ext cx="214884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Shows a live, human-readable status: SYSTEM SECURE, INTRUDER DETECTED, GAS LEAK ALERT, or FIRE DETECTED.</a:t>
            </a:r>
            <a:endParaRPr lang="en-US" sz="1100" dirty="0"/>
          </a:p>
        </p:txBody>
      </p:sp>
      <p:sp>
        <p:nvSpPr>
          <p:cNvPr id="17" name="Shape 15"/>
          <p:cNvSpPr/>
          <p:nvPr/>
        </p:nvSpPr>
        <p:spPr>
          <a:xfrm>
            <a:off x="6217920" y="2103120"/>
            <a:ext cx="2606040" cy="4160520"/>
          </a:xfrm>
          <a:prstGeom prst="roundRect">
            <a:avLst>
              <a:gd name="adj" fmla="val 2807"/>
            </a:avLst>
          </a:prstGeom>
          <a:solidFill>
            <a:srgbClr val="FFFFFF"/>
          </a:solidFill>
          <a:ln/>
          <a:effectLst>
            <a:outerShdw sx="100000" sy="100000" kx="0" ky="0" algn="bl" rotWithShape="0" blurRad="76200" dist="25400" dir="5400000">
              <a:srgbClr val="1B2A4A">
                <a:alpha val="18000"/>
              </a:srgbClr>
            </a:outerShdw>
          </a:effectLst>
        </p:spPr>
      </p:sp>
      <p:sp>
        <p:nvSpPr>
          <p:cNvPr id="18" name="Shape 16"/>
          <p:cNvSpPr/>
          <p:nvPr/>
        </p:nvSpPr>
        <p:spPr>
          <a:xfrm>
            <a:off x="7109460" y="2423160"/>
            <a:ext cx="822960" cy="822960"/>
          </a:xfrm>
          <a:prstGeom prst="ellipse">
            <a:avLst/>
          </a:prstGeom>
          <a:solidFill>
            <a:srgbClr val="6B7280"/>
          </a:solidFill>
          <a:ln/>
        </p:spPr>
      </p:sp>
      <p:sp>
        <p:nvSpPr>
          <p:cNvPr id="19" name="Text 17"/>
          <p:cNvSpPr/>
          <p:nvPr/>
        </p:nvSpPr>
        <p:spPr>
          <a:xfrm>
            <a:off x="710946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POT</a:t>
            </a:r>
            <a:endParaRPr lang="en-US" sz="1500" dirty="0"/>
          </a:p>
        </p:txBody>
      </p:sp>
      <p:sp>
        <p:nvSpPr>
          <p:cNvPr id="20" name="Text 18"/>
          <p:cNvSpPr/>
          <p:nvPr/>
        </p:nvSpPr>
        <p:spPr>
          <a:xfrm>
            <a:off x="6400800" y="3383280"/>
            <a:ext cx="224028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Potentiometer</a:t>
            </a:r>
            <a:endParaRPr lang="en-US" sz="1500" dirty="0"/>
          </a:p>
        </p:txBody>
      </p:sp>
      <p:sp>
        <p:nvSpPr>
          <p:cNvPr id="21" name="Text 19"/>
          <p:cNvSpPr/>
          <p:nvPr/>
        </p:nvSpPr>
        <p:spPr>
          <a:xfrm>
            <a:off x="6400800" y="3886200"/>
            <a:ext cx="2240280" cy="320040"/>
          </a:xfrm>
          <a:prstGeom prst="rect">
            <a:avLst/>
          </a:prstGeom>
          <a:noFill/>
          <a:ln/>
        </p:spPr>
        <p:txBody>
          <a:bodyPr wrap="square" lIns="0" tIns="0" rIns="0" bIns="0"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Wiper → LCD V0</a:t>
            </a:r>
            <a:endParaRPr lang="en-US" sz="1100" dirty="0"/>
          </a:p>
        </p:txBody>
      </p:sp>
      <p:sp>
        <p:nvSpPr>
          <p:cNvPr id="22" name="Text 20"/>
          <p:cNvSpPr/>
          <p:nvPr/>
        </p:nvSpPr>
        <p:spPr>
          <a:xfrm>
            <a:off x="6446520" y="4297680"/>
            <a:ext cx="214884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A simple contrast control that keeps the LCD text crisp and readable.</a:t>
            </a:r>
            <a:endParaRPr lang="en-US" sz="1100" dirty="0"/>
          </a:p>
        </p:txBody>
      </p:sp>
      <p:sp>
        <p:nvSpPr>
          <p:cNvPr id="23" name="Shape 21"/>
          <p:cNvSpPr/>
          <p:nvPr/>
        </p:nvSpPr>
        <p:spPr>
          <a:xfrm>
            <a:off x="9052560" y="2103120"/>
            <a:ext cx="2606040" cy="4160520"/>
          </a:xfrm>
          <a:prstGeom prst="roundRect">
            <a:avLst>
              <a:gd name="adj" fmla="val 2807"/>
            </a:avLst>
          </a:prstGeom>
          <a:solidFill>
            <a:srgbClr val="FFFFFF"/>
          </a:solidFill>
          <a:ln/>
          <a:effectLst>
            <a:outerShdw sx="100000" sy="100000" kx="0" ky="0" algn="bl" rotWithShape="0" blurRad="76200" dist="25400" dir="5400000">
              <a:srgbClr val="1B2A4A">
                <a:alpha val="18000"/>
              </a:srgbClr>
            </a:outerShdw>
          </a:effectLst>
        </p:spPr>
      </p:sp>
      <p:sp>
        <p:nvSpPr>
          <p:cNvPr id="24" name="Shape 22"/>
          <p:cNvSpPr/>
          <p:nvPr/>
        </p:nvSpPr>
        <p:spPr>
          <a:xfrm>
            <a:off x="9944100" y="2423160"/>
            <a:ext cx="822960" cy="822960"/>
          </a:xfrm>
          <a:prstGeom prst="ellipse">
            <a:avLst/>
          </a:prstGeom>
          <a:solidFill>
            <a:srgbClr val="2A9D8F"/>
          </a:solidFill>
          <a:ln/>
        </p:spPr>
      </p:sp>
      <p:sp>
        <p:nvSpPr>
          <p:cNvPr id="25" name="Text 23"/>
          <p:cNvSpPr/>
          <p:nvPr/>
        </p:nvSpPr>
        <p:spPr>
          <a:xfrm>
            <a:off x="9944100" y="24231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BTN</a:t>
            </a:r>
            <a:endParaRPr lang="en-US" sz="1500" dirty="0"/>
          </a:p>
        </p:txBody>
      </p:sp>
      <p:sp>
        <p:nvSpPr>
          <p:cNvPr id="26" name="Text 24"/>
          <p:cNvSpPr/>
          <p:nvPr/>
        </p:nvSpPr>
        <p:spPr>
          <a:xfrm>
            <a:off x="9235440" y="3383280"/>
            <a:ext cx="224028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Reset Button</a:t>
            </a:r>
            <a:endParaRPr lang="en-US" sz="1500" dirty="0"/>
          </a:p>
        </p:txBody>
      </p:sp>
      <p:sp>
        <p:nvSpPr>
          <p:cNvPr id="27" name="Text 25"/>
          <p:cNvSpPr/>
          <p:nvPr/>
        </p:nvSpPr>
        <p:spPr>
          <a:xfrm>
            <a:off x="9235440" y="3886200"/>
            <a:ext cx="2240280" cy="320040"/>
          </a:xfrm>
          <a:prstGeom prst="rect">
            <a:avLst/>
          </a:prstGeom>
          <a:noFill/>
          <a:ln/>
        </p:spPr>
        <p:txBody>
          <a:bodyPr wrap="square" lIns="0" tIns="0" rIns="0" bIns="0" rtlCol="0" anchor="ctr"/>
          <a:lstStyle/>
          <a:p>
            <a:pPr algn="ctr" indent="0" marL="0">
              <a:buNone/>
            </a:pPr>
            <a:r>
              <a:rPr lang="en-US" sz="1100" b="1" dirty="0">
                <a:solidFill>
                  <a:srgbClr val="2A9D8F"/>
                </a:solidFill>
                <a:latin typeface="Calibri" pitchFamily="34" charset="0"/>
                <a:ea typeface="Calibri" pitchFamily="34" charset="-122"/>
                <a:cs typeface="Calibri" pitchFamily="34" charset="-120"/>
              </a:rPr>
              <a:t>1a → D6 (2a → GND)</a:t>
            </a:r>
            <a:endParaRPr lang="en-US" sz="1100" dirty="0"/>
          </a:p>
        </p:txBody>
      </p:sp>
      <p:sp>
        <p:nvSpPr>
          <p:cNvPr id="28" name="Text 26"/>
          <p:cNvSpPr/>
          <p:nvPr/>
        </p:nvSpPr>
        <p:spPr>
          <a:xfrm>
            <a:off x="9281160" y="4297680"/>
            <a:ext cx="2148840" cy="1828800"/>
          </a:xfrm>
          <a:prstGeom prst="rect">
            <a:avLst/>
          </a:prstGeom>
          <a:noFill/>
          <a:ln/>
        </p:spPr>
        <p:txBody>
          <a:bodyPr wrap="square" lIns="0" tIns="0" rIns="0" bIns="0" rtlCol="0" anchor="ctr"/>
          <a:lstStyle/>
          <a:p>
            <a:pPr algn="l" indent="0" marL="0">
              <a:lnSpc>
                <a:spcPct val="125000"/>
              </a:lnSpc>
              <a:buNone/>
            </a:pPr>
            <a:r>
              <a:rPr lang="en-US" sz="1100" dirty="0">
                <a:solidFill>
                  <a:srgbClr val="6B7280"/>
                </a:solidFill>
                <a:latin typeface="Calibri" pitchFamily="34" charset="0"/>
                <a:ea typeface="Calibri" pitchFamily="34" charset="-122"/>
                <a:cs typeface="Calibri" pitchFamily="34" charset="-120"/>
              </a:rPr>
              <a:t>A single push-button that lets the homeowner silence an alert and return the system to Safe Mode.</a:t>
            </a:r>
            <a:endParaRPr lang="en-US" sz="1100" dirty="0"/>
          </a:p>
        </p:txBody>
      </p:sp>
      <p:sp>
        <p:nvSpPr>
          <p:cNvPr id="29" name="Text 27"/>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30" name="Text 2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HOW IT FITS TOGETHER</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System Architecture</a:t>
            </a:r>
            <a:endParaRPr lang="en-US" sz="3200" dirty="0"/>
          </a:p>
        </p:txBody>
      </p:sp>
      <p:sp>
        <p:nvSpPr>
          <p:cNvPr id="4" name="Shape 2"/>
          <p:cNvSpPr/>
          <p:nvPr/>
        </p:nvSpPr>
        <p:spPr>
          <a:xfrm>
            <a:off x="640080" y="2103120"/>
            <a:ext cx="3246120" cy="3291840"/>
          </a:xfrm>
          <a:prstGeom prst="roundRect">
            <a:avLst>
              <a:gd name="adj" fmla="val 2254"/>
            </a:avLst>
          </a:prstGeom>
          <a:solidFill>
            <a:srgbClr val="FFFFFF"/>
          </a:solidFill>
          <a:ln/>
          <a:effectLst>
            <a:outerShdw sx="100000" sy="100000" kx="0" ky="0" algn="bl" rotWithShape="0" blurRad="76200" dist="25400" dir="5400000">
              <a:srgbClr val="1B2A4A">
                <a:alpha val="18000"/>
              </a:srgbClr>
            </a:outerShdw>
          </a:effectLst>
        </p:spPr>
      </p:sp>
      <p:sp>
        <p:nvSpPr>
          <p:cNvPr id="5" name="Text 3"/>
          <p:cNvSpPr/>
          <p:nvPr/>
        </p:nvSpPr>
        <p:spPr>
          <a:xfrm>
            <a:off x="640080" y="2286000"/>
            <a:ext cx="3246120" cy="320040"/>
          </a:xfrm>
          <a:prstGeom prst="rect">
            <a:avLst/>
          </a:prstGeom>
          <a:noFill/>
          <a:ln/>
        </p:spPr>
        <p:txBody>
          <a:bodyPr wrap="square" lIns="0" tIns="0" rIns="0" bIns="0" rtlCol="0" anchor="ctr"/>
          <a:lstStyle/>
          <a:p>
            <a:pPr algn="ctr" indent="0" marL="0">
              <a:buNone/>
            </a:pPr>
            <a:r>
              <a:rPr lang="en-US" sz="1300" b="1" dirty="0">
                <a:solidFill>
                  <a:srgbClr val="3A86FF"/>
                </a:solidFill>
                <a:latin typeface="Calibri" pitchFamily="34" charset="0"/>
                <a:ea typeface="Calibri" pitchFamily="34" charset="-122"/>
                <a:cs typeface="Calibri" pitchFamily="34" charset="-120"/>
              </a:rPr>
              <a:t>INPUTS</a:t>
            </a:r>
            <a:endParaRPr lang="en-US" sz="1300" dirty="0"/>
          </a:p>
        </p:txBody>
      </p:sp>
      <p:sp>
        <p:nvSpPr>
          <p:cNvPr id="6" name="Shape 4"/>
          <p:cNvSpPr/>
          <p:nvPr/>
        </p:nvSpPr>
        <p:spPr>
          <a:xfrm>
            <a:off x="914400" y="2788920"/>
            <a:ext cx="365760" cy="365760"/>
          </a:xfrm>
          <a:prstGeom prst="ellipse">
            <a:avLst/>
          </a:prstGeom>
          <a:solidFill>
            <a:srgbClr val="14213D"/>
          </a:solidFill>
          <a:ln/>
        </p:spPr>
      </p:sp>
      <p:sp>
        <p:nvSpPr>
          <p:cNvPr id="7" name="Text 5"/>
          <p:cNvSpPr/>
          <p:nvPr/>
        </p:nvSpPr>
        <p:spPr>
          <a:xfrm>
            <a:off x="914400" y="2788920"/>
            <a:ext cx="365760" cy="365760"/>
          </a:xfrm>
          <a:prstGeom prst="rect">
            <a:avLst/>
          </a:prstGeom>
          <a:noFill/>
          <a:ln/>
        </p:spPr>
        <p:txBody>
          <a:bodyPr wrap="square" lIns="0" tIns="0" rIns="0" bIns="0" rtlCol="0" anchor="ctr"/>
          <a:lstStyle/>
          <a:p>
            <a:pPr algn="ctr" indent="0" marL="0">
              <a:buNone/>
            </a:pPr>
            <a:endParaRPr lang="en-US" sz="1000" dirty="0"/>
          </a:p>
        </p:txBody>
      </p:sp>
      <p:sp>
        <p:nvSpPr>
          <p:cNvPr id="8" name="Text 6"/>
          <p:cNvSpPr/>
          <p:nvPr/>
        </p:nvSpPr>
        <p:spPr>
          <a:xfrm>
            <a:off x="1417320" y="2788920"/>
            <a:ext cx="2240280" cy="365760"/>
          </a:xfrm>
          <a:prstGeom prst="rect">
            <a:avLst/>
          </a:prstGeom>
          <a:noFill/>
          <a:ln/>
        </p:spPr>
        <p:txBody>
          <a:bodyPr wrap="square" lIns="0" tIns="0" rIns="0" bIns="0" rtlCol="0" anchor="ctr"/>
          <a:lstStyle/>
          <a:p>
            <a:pPr indent="0" marL="0">
              <a:buNone/>
            </a:pPr>
            <a:r>
              <a:rPr lang="en-US" sz="1250" dirty="0">
                <a:solidFill>
                  <a:srgbClr val="14213D"/>
                </a:solidFill>
                <a:latin typeface="Calibri" pitchFamily="34" charset="0"/>
                <a:ea typeface="Calibri" pitchFamily="34" charset="-122"/>
                <a:cs typeface="Calibri" pitchFamily="34" charset="-120"/>
              </a:rPr>
              <a:t>PIR Motion</a:t>
            </a:r>
            <a:endParaRPr lang="en-US" sz="1250" dirty="0"/>
          </a:p>
        </p:txBody>
      </p:sp>
      <p:sp>
        <p:nvSpPr>
          <p:cNvPr id="9" name="Shape 7"/>
          <p:cNvSpPr/>
          <p:nvPr/>
        </p:nvSpPr>
        <p:spPr>
          <a:xfrm>
            <a:off x="914400" y="3410712"/>
            <a:ext cx="365760" cy="365760"/>
          </a:xfrm>
          <a:prstGeom prst="ellipse">
            <a:avLst/>
          </a:prstGeom>
          <a:solidFill>
            <a:srgbClr val="E08E45"/>
          </a:solidFill>
          <a:ln/>
        </p:spPr>
      </p:sp>
      <p:sp>
        <p:nvSpPr>
          <p:cNvPr id="10" name="Text 8"/>
          <p:cNvSpPr/>
          <p:nvPr/>
        </p:nvSpPr>
        <p:spPr>
          <a:xfrm>
            <a:off x="914400" y="3410712"/>
            <a:ext cx="365760" cy="365760"/>
          </a:xfrm>
          <a:prstGeom prst="rect">
            <a:avLst/>
          </a:prstGeom>
          <a:noFill/>
          <a:ln/>
        </p:spPr>
        <p:txBody>
          <a:bodyPr wrap="square" lIns="0" tIns="0" rIns="0" bIns="0" rtlCol="0" anchor="ctr"/>
          <a:lstStyle/>
          <a:p>
            <a:pPr algn="ctr" indent="0" marL="0">
              <a:buNone/>
            </a:pPr>
            <a:endParaRPr lang="en-US" sz="1000" dirty="0"/>
          </a:p>
        </p:txBody>
      </p:sp>
      <p:sp>
        <p:nvSpPr>
          <p:cNvPr id="11" name="Text 9"/>
          <p:cNvSpPr/>
          <p:nvPr/>
        </p:nvSpPr>
        <p:spPr>
          <a:xfrm>
            <a:off x="1417320" y="3410712"/>
            <a:ext cx="2240280" cy="365760"/>
          </a:xfrm>
          <a:prstGeom prst="rect">
            <a:avLst/>
          </a:prstGeom>
          <a:noFill/>
          <a:ln/>
        </p:spPr>
        <p:txBody>
          <a:bodyPr wrap="square" lIns="0" tIns="0" rIns="0" bIns="0" rtlCol="0" anchor="ctr"/>
          <a:lstStyle/>
          <a:p>
            <a:pPr indent="0" marL="0">
              <a:buNone/>
            </a:pPr>
            <a:r>
              <a:rPr lang="en-US" sz="1250" dirty="0">
                <a:solidFill>
                  <a:srgbClr val="14213D"/>
                </a:solidFill>
                <a:latin typeface="Calibri" pitchFamily="34" charset="0"/>
                <a:ea typeface="Calibri" pitchFamily="34" charset="-122"/>
                <a:cs typeface="Calibri" pitchFamily="34" charset="-120"/>
              </a:rPr>
              <a:t>MQ2 Gas</a:t>
            </a:r>
            <a:endParaRPr lang="en-US" sz="1250" dirty="0"/>
          </a:p>
        </p:txBody>
      </p:sp>
      <p:sp>
        <p:nvSpPr>
          <p:cNvPr id="12" name="Shape 10"/>
          <p:cNvSpPr/>
          <p:nvPr/>
        </p:nvSpPr>
        <p:spPr>
          <a:xfrm>
            <a:off x="914400" y="4032504"/>
            <a:ext cx="365760" cy="365760"/>
          </a:xfrm>
          <a:prstGeom prst="ellipse">
            <a:avLst/>
          </a:prstGeom>
          <a:solidFill>
            <a:srgbClr val="E63946"/>
          </a:solidFill>
          <a:ln/>
        </p:spPr>
      </p:sp>
      <p:sp>
        <p:nvSpPr>
          <p:cNvPr id="13" name="Text 11"/>
          <p:cNvSpPr/>
          <p:nvPr/>
        </p:nvSpPr>
        <p:spPr>
          <a:xfrm>
            <a:off x="914400" y="4032504"/>
            <a:ext cx="365760" cy="365760"/>
          </a:xfrm>
          <a:prstGeom prst="rect">
            <a:avLst/>
          </a:prstGeom>
          <a:noFill/>
          <a:ln/>
        </p:spPr>
        <p:txBody>
          <a:bodyPr wrap="square" lIns="0" tIns="0" rIns="0" bIns="0" rtlCol="0" anchor="ctr"/>
          <a:lstStyle/>
          <a:p>
            <a:pPr algn="ctr" indent="0" marL="0">
              <a:buNone/>
            </a:pPr>
            <a:endParaRPr lang="en-US" sz="1000" dirty="0"/>
          </a:p>
        </p:txBody>
      </p:sp>
      <p:sp>
        <p:nvSpPr>
          <p:cNvPr id="14" name="Text 12"/>
          <p:cNvSpPr/>
          <p:nvPr/>
        </p:nvSpPr>
        <p:spPr>
          <a:xfrm>
            <a:off x="1417320" y="4032504"/>
            <a:ext cx="2240280" cy="365760"/>
          </a:xfrm>
          <a:prstGeom prst="rect">
            <a:avLst/>
          </a:prstGeom>
          <a:noFill/>
          <a:ln/>
        </p:spPr>
        <p:txBody>
          <a:bodyPr wrap="square" lIns="0" tIns="0" rIns="0" bIns="0" rtlCol="0" anchor="ctr"/>
          <a:lstStyle/>
          <a:p>
            <a:pPr indent="0" marL="0">
              <a:buNone/>
            </a:pPr>
            <a:r>
              <a:rPr lang="en-US" sz="1250" dirty="0">
                <a:solidFill>
                  <a:srgbClr val="14213D"/>
                </a:solidFill>
                <a:latin typeface="Calibri" pitchFamily="34" charset="0"/>
                <a:ea typeface="Calibri" pitchFamily="34" charset="-122"/>
                <a:cs typeface="Calibri" pitchFamily="34" charset="-120"/>
              </a:rPr>
              <a:t>TMP36 Heat</a:t>
            </a:r>
            <a:endParaRPr lang="en-US" sz="1250" dirty="0"/>
          </a:p>
        </p:txBody>
      </p:sp>
      <p:sp>
        <p:nvSpPr>
          <p:cNvPr id="15" name="Shape 13"/>
          <p:cNvSpPr/>
          <p:nvPr/>
        </p:nvSpPr>
        <p:spPr>
          <a:xfrm>
            <a:off x="914400" y="4654296"/>
            <a:ext cx="365760" cy="365760"/>
          </a:xfrm>
          <a:prstGeom prst="ellipse">
            <a:avLst/>
          </a:prstGeom>
          <a:solidFill>
            <a:srgbClr val="2A9D8F"/>
          </a:solidFill>
          <a:ln/>
        </p:spPr>
      </p:sp>
      <p:sp>
        <p:nvSpPr>
          <p:cNvPr id="16" name="Text 14"/>
          <p:cNvSpPr/>
          <p:nvPr/>
        </p:nvSpPr>
        <p:spPr>
          <a:xfrm>
            <a:off x="914400" y="4654296"/>
            <a:ext cx="365760" cy="365760"/>
          </a:xfrm>
          <a:prstGeom prst="rect">
            <a:avLst/>
          </a:prstGeom>
          <a:noFill/>
          <a:ln/>
        </p:spPr>
        <p:txBody>
          <a:bodyPr wrap="square" lIns="0" tIns="0" rIns="0" bIns="0" rtlCol="0" anchor="ctr"/>
          <a:lstStyle/>
          <a:p>
            <a:pPr algn="ctr" indent="0" marL="0">
              <a:buNone/>
            </a:pPr>
            <a:endParaRPr lang="en-US" sz="1000" dirty="0"/>
          </a:p>
        </p:txBody>
      </p:sp>
      <p:sp>
        <p:nvSpPr>
          <p:cNvPr id="17" name="Text 15"/>
          <p:cNvSpPr/>
          <p:nvPr/>
        </p:nvSpPr>
        <p:spPr>
          <a:xfrm>
            <a:off x="1417320" y="4654296"/>
            <a:ext cx="2240280" cy="365760"/>
          </a:xfrm>
          <a:prstGeom prst="rect">
            <a:avLst/>
          </a:prstGeom>
          <a:noFill/>
          <a:ln/>
        </p:spPr>
        <p:txBody>
          <a:bodyPr wrap="square" lIns="0" tIns="0" rIns="0" bIns="0" rtlCol="0" anchor="ctr"/>
          <a:lstStyle/>
          <a:p>
            <a:pPr indent="0" marL="0">
              <a:buNone/>
            </a:pPr>
            <a:r>
              <a:rPr lang="en-US" sz="1250" dirty="0">
                <a:solidFill>
                  <a:srgbClr val="14213D"/>
                </a:solidFill>
                <a:latin typeface="Calibri" pitchFamily="34" charset="0"/>
                <a:ea typeface="Calibri" pitchFamily="34" charset="-122"/>
                <a:cs typeface="Calibri" pitchFamily="34" charset="-120"/>
              </a:rPr>
              <a:t>Reset Button</a:t>
            </a:r>
            <a:endParaRPr lang="en-US" sz="1250" dirty="0"/>
          </a:p>
        </p:txBody>
      </p:sp>
      <p:sp>
        <p:nvSpPr>
          <p:cNvPr id="18" name="Shape 16"/>
          <p:cNvSpPr/>
          <p:nvPr/>
        </p:nvSpPr>
        <p:spPr>
          <a:xfrm>
            <a:off x="3959352" y="3584448"/>
            <a:ext cx="356616" cy="329184"/>
          </a:xfrm>
          <a:prstGeom prst="rightArrow">
            <a:avLst/>
          </a:prstGeom>
          <a:solidFill>
            <a:srgbClr val="CADCFC"/>
          </a:solidFill>
          <a:ln/>
        </p:spPr>
      </p:sp>
      <p:sp>
        <p:nvSpPr>
          <p:cNvPr id="19" name="Shape 17"/>
          <p:cNvSpPr/>
          <p:nvPr/>
        </p:nvSpPr>
        <p:spPr>
          <a:xfrm>
            <a:off x="4389120" y="2103120"/>
            <a:ext cx="3246120" cy="3291840"/>
          </a:xfrm>
          <a:prstGeom prst="roundRect">
            <a:avLst>
              <a:gd name="adj" fmla="val 2254"/>
            </a:avLst>
          </a:prstGeom>
          <a:solidFill>
            <a:srgbClr val="14213D"/>
          </a:solidFill>
          <a:ln/>
          <a:effectLst>
            <a:outerShdw sx="100000" sy="100000" kx="0" ky="0" algn="bl" rotWithShape="0" blurRad="76200" dist="25400" dir="5400000">
              <a:srgbClr val="1B2A4A">
                <a:alpha val="18000"/>
              </a:srgbClr>
            </a:outerShdw>
          </a:effectLst>
        </p:spPr>
      </p:sp>
      <p:sp>
        <p:nvSpPr>
          <p:cNvPr id="20" name="Text 18"/>
          <p:cNvSpPr/>
          <p:nvPr/>
        </p:nvSpPr>
        <p:spPr>
          <a:xfrm>
            <a:off x="4389120" y="2286000"/>
            <a:ext cx="3246120" cy="320040"/>
          </a:xfrm>
          <a:prstGeom prst="rect">
            <a:avLst/>
          </a:prstGeom>
          <a:noFill/>
          <a:ln/>
        </p:spPr>
        <p:txBody>
          <a:bodyPr wrap="square" lIns="0" tIns="0" rIns="0" bIns="0" rtlCol="0" anchor="ctr"/>
          <a:lstStyle/>
          <a:p>
            <a:pPr algn="ctr" indent="0" marL="0">
              <a:buNone/>
            </a:pPr>
            <a:r>
              <a:rPr lang="en-US" sz="1300" b="1" dirty="0">
                <a:solidFill>
                  <a:srgbClr val="CADCFC"/>
                </a:solidFill>
                <a:latin typeface="Calibri" pitchFamily="34" charset="0"/>
                <a:ea typeface="Calibri" pitchFamily="34" charset="-122"/>
                <a:cs typeface="Calibri" pitchFamily="34" charset="-120"/>
              </a:rPr>
              <a:t>DECISION LOGIC</a:t>
            </a:r>
            <a:endParaRPr lang="en-US" sz="1300" dirty="0"/>
          </a:p>
        </p:txBody>
      </p:sp>
      <p:sp>
        <p:nvSpPr>
          <p:cNvPr id="21" name="Shape 19"/>
          <p:cNvSpPr/>
          <p:nvPr/>
        </p:nvSpPr>
        <p:spPr>
          <a:xfrm>
            <a:off x="5509260" y="2880360"/>
            <a:ext cx="1005840" cy="1005840"/>
          </a:xfrm>
          <a:prstGeom prst="ellipse">
            <a:avLst/>
          </a:prstGeom>
          <a:solidFill>
            <a:srgbClr val="3A86FF"/>
          </a:solidFill>
          <a:ln/>
        </p:spPr>
      </p:sp>
      <p:sp>
        <p:nvSpPr>
          <p:cNvPr id="22" name="Text 20"/>
          <p:cNvSpPr/>
          <p:nvPr/>
        </p:nvSpPr>
        <p:spPr>
          <a:xfrm>
            <a:off x="5509260" y="2880360"/>
            <a:ext cx="100584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UNO</a:t>
            </a:r>
            <a:endParaRPr lang="en-US" sz="1600" dirty="0"/>
          </a:p>
        </p:txBody>
      </p:sp>
      <p:sp>
        <p:nvSpPr>
          <p:cNvPr id="23" name="Text 21"/>
          <p:cNvSpPr/>
          <p:nvPr/>
        </p:nvSpPr>
        <p:spPr>
          <a:xfrm>
            <a:off x="4663440" y="4160520"/>
            <a:ext cx="2697480" cy="1097280"/>
          </a:xfrm>
          <a:prstGeom prst="rect">
            <a:avLst/>
          </a:prstGeom>
          <a:noFill/>
          <a:ln/>
        </p:spPr>
        <p:txBody>
          <a:bodyPr wrap="square" lIns="0" tIns="0" rIns="0" bIns="0" rtlCol="0" anchor="ctr"/>
          <a:lstStyle/>
          <a:p>
            <a:pPr algn="ctr" indent="0" marL="0">
              <a:lnSpc>
                <a:spcPct val="130000"/>
              </a:lnSpc>
              <a:buNone/>
            </a:pPr>
            <a:r>
              <a:rPr lang="en-US" sz="1150" dirty="0">
                <a:solidFill>
                  <a:srgbClr val="CADCFC"/>
                </a:solidFill>
                <a:latin typeface="Calibri" pitchFamily="34" charset="0"/>
                <a:ea typeface="Calibri" pitchFamily="34" charset="-122"/>
                <a:cs typeface="Calibri" pitchFamily="34" charset="-120"/>
              </a:rPr>
              <a:t>Arduino Uno reads all sensors every ~200ms and applies priority: Fire &gt; Gas &gt; Intruder &gt; Safe</a:t>
            </a:r>
            <a:endParaRPr lang="en-US" sz="1150" dirty="0"/>
          </a:p>
        </p:txBody>
      </p:sp>
      <p:sp>
        <p:nvSpPr>
          <p:cNvPr id="24" name="Shape 22"/>
          <p:cNvSpPr/>
          <p:nvPr/>
        </p:nvSpPr>
        <p:spPr>
          <a:xfrm>
            <a:off x="7708392" y="3584448"/>
            <a:ext cx="356616" cy="329184"/>
          </a:xfrm>
          <a:prstGeom prst="rightArrow">
            <a:avLst/>
          </a:prstGeom>
          <a:solidFill>
            <a:srgbClr val="CADCFC"/>
          </a:solidFill>
          <a:ln/>
        </p:spPr>
      </p:sp>
      <p:sp>
        <p:nvSpPr>
          <p:cNvPr id="25" name="Shape 23"/>
          <p:cNvSpPr/>
          <p:nvPr/>
        </p:nvSpPr>
        <p:spPr>
          <a:xfrm>
            <a:off x="8138160" y="2103120"/>
            <a:ext cx="3246120" cy="3291840"/>
          </a:xfrm>
          <a:prstGeom prst="roundRect">
            <a:avLst>
              <a:gd name="adj" fmla="val 2254"/>
            </a:avLst>
          </a:prstGeom>
          <a:solidFill>
            <a:srgbClr val="FFFFFF"/>
          </a:solidFill>
          <a:ln/>
          <a:effectLst>
            <a:outerShdw sx="100000" sy="100000" kx="0" ky="0" algn="bl" rotWithShape="0" blurRad="76200" dist="25400" dir="5400000">
              <a:srgbClr val="1B2A4A">
                <a:alpha val="18000"/>
              </a:srgbClr>
            </a:outerShdw>
          </a:effectLst>
        </p:spPr>
      </p:sp>
      <p:sp>
        <p:nvSpPr>
          <p:cNvPr id="26" name="Text 24"/>
          <p:cNvSpPr/>
          <p:nvPr/>
        </p:nvSpPr>
        <p:spPr>
          <a:xfrm>
            <a:off x="8138160" y="2286000"/>
            <a:ext cx="3246120" cy="320040"/>
          </a:xfrm>
          <a:prstGeom prst="rect">
            <a:avLst/>
          </a:prstGeom>
          <a:noFill/>
          <a:ln/>
        </p:spPr>
        <p:txBody>
          <a:bodyPr wrap="square" lIns="0" tIns="0" rIns="0" bIns="0" rtlCol="0" anchor="ctr"/>
          <a:lstStyle/>
          <a:p>
            <a:pPr algn="ctr" indent="0" marL="0">
              <a:buNone/>
            </a:pPr>
            <a:r>
              <a:rPr lang="en-US" sz="1300" b="1" dirty="0">
                <a:solidFill>
                  <a:srgbClr val="3A86FF"/>
                </a:solidFill>
                <a:latin typeface="Calibri" pitchFamily="34" charset="0"/>
                <a:ea typeface="Calibri" pitchFamily="34" charset="-122"/>
                <a:cs typeface="Calibri" pitchFamily="34" charset="-120"/>
              </a:rPr>
              <a:t>OUTPUTS</a:t>
            </a:r>
            <a:endParaRPr lang="en-US" sz="1300" dirty="0"/>
          </a:p>
        </p:txBody>
      </p:sp>
      <p:sp>
        <p:nvSpPr>
          <p:cNvPr id="27" name="Shape 25"/>
          <p:cNvSpPr/>
          <p:nvPr/>
        </p:nvSpPr>
        <p:spPr>
          <a:xfrm>
            <a:off x="8412480" y="2834640"/>
            <a:ext cx="365760" cy="365760"/>
          </a:xfrm>
          <a:prstGeom prst="ellipse">
            <a:avLst/>
          </a:prstGeom>
          <a:solidFill>
            <a:srgbClr val="14213D"/>
          </a:solidFill>
          <a:ln/>
        </p:spPr>
      </p:sp>
      <p:sp>
        <p:nvSpPr>
          <p:cNvPr id="28" name="Text 26"/>
          <p:cNvSpPr/>
          <p:nvPr/>
        </p:nvSpPr>
        <p:spPr>
          <a:xfrm>
            <a:off x="8412480" y="2834640"/>
            <a:ext cx="365760" cy="365760"/>
          </a:xfrm>
          <a:prstGeom prst="rect">
            <a:avLst/>
          </a:prstGeom>
          <a:noFill/>
          <a:ln/>
        </p:spPr>
        <p:txBody>
          <a:bodyPr wrap="square" lIns="0" tIns="0" rIns="0" bIns="0" rtlCol="0" anchor="ctr"/>
          <a:lstStyle/>
          <a:p>
            <a:pPr algn="ctr" indent="0" marL="0">
              <a:buNone/>
            </a:pPr>
            <a:endParaRPr lang="en-US" sz="1000" dirty="0"/>
          </a:p>
        </p:txBody>
      </p:sp>
      <p:sp>
        <p:nvSpPr>
          <p:cNvPr id="29" name="Text 27"/>
          <p:cNvSpPr/>
          <p:nvPr/>
        </p:nvSpPr>
        <p:spPr>
          <a:xfrm>
            <a:off x="8915400" y="2697480"/>
            <a:ext cx="2240280" cy="640080"/>
          </a:xfrm>
          <a:prstGeom prst="rect">
            <a:avLst/>
          </a:prstGeom>
          <a:noFill/>
          <a:ln/>
        </p:spPr>
        <p:txBody>
          <a:bodyPr wrap="square" lIns="0" tIns="0" rIns="0" bIns="0" rtlCol="0" anchor="ctr"/>
          <a:lstStyle/>
          <a:p>
            <a:pPr indent="0" marL="0">
              <a:lnSpc>
                <a:spcPct val="110000"/>
              </a:lnSpc>
              <a:buNone/>
            </a:pPr>
            <a:r>
              <a:rPr lang="en-US" sz="1200" dirty="0">
                <a:solidFill>
                  <a:srgbClr val="14213D"/>
                </a:solidFill>
                <a:latin typeface="Calibri" pitchFamily="34" charset="0"/>
                <a:ea typeface="Calibri" pitchFamily="34" charset="-122"/>
                <a:cs typeface="Calibri" pitchFamily="34" charset="-120"/>
              </a:rPr>
              <a:t>LCD Status Message</a:t>
            </a:r>
            <a:endParaRPr lang="en-US" sz="1200" dirty="0"/>
          </a:p>
        </p:txBody>
      </p:sp>
      <p:sp>
        <p:nvSpPr>
          <p:cNvPr id="30" name="Shape 28"/>
          <p:cNvSpPr/>
          <p:nvPr/>
        </p:nvSpPr>
        <p:spPr>
          <a:xfrm>
            <a:off x="8412480" y="3611880"/>
            <a:ext cx="365760" cy="365760"/>
          </a:xfrm>
          <a:prstGeom prst="ellipse">
            <a:avLst/>
          </a:prstGeom>
          <a:solidFill>
            <a:srgbClr val="E63946"/>
          </a:solidFill>
          <a:ln/>
        </p:spPr>
      </p:sp>
      <p:sp>
        <p:nvSpPr>
          <p:cNvPr id="31" name="Text 29"/>
          <p:cNvSpPr/>
          <p:nvPr/>
        </p:nvSpPr>
        <p:spPr>
          <a:xfrm>
            <a:off x="8412480" y="3611880"/>
            <a:ext cx="365760" cy="365760"/>
          </a:xfrm>
          <a:prstGeom prst="rect">
            <a:avLst/>
          </a:prstGeom>
          <a:noFill/>
          <a:ln/>
        </p:spPr>
        <p:txBody>
          <a:bodyPr wrap="square" lIns="0" tIns="0" rIns="0" bIns="0" rtlCol="0" anchor="ctr"/>
          <a:lstStyle/>
          <a:p>
            <a:pPr algn="ctr" indent="0" marL="0">
              <a:buNone/>
            </a:pPr>
            <a:endParaRPr lang="en-US" sz="1000" dirty="0"/>
          </a:p>
        </p:txBody>
      </p:sp>
      <p:sp>
        <p:nvSpPr>
          <p:cNvPr id="32" name="Text 30"/>
          <p:cNvSpPr/>
          <p:nvPr/>
        </p:nvSpPr>
        <p:spPr>
          <a:xfrm>
            <a:off x="8915400" y="3474720"/>
            <a:ext cx="2240280" cy="640080"/>
          </a:xfrm>
          <a:prstGeom prst="rect">
            <a:avLst/>
          </a:prstGeom>
          <a:noFill/>
          <a:ln/>
        </p:spPr>
        <p:txBody>
          <a:bodyPr wrap="square" lIns="0" tIns="0" rIns="0" bIns="0" rtlCol="0" anchor="ctr"/>
          <a:lstStyle/>
          <a:p>
            <a:pPr indent="0" marL="0">
              <a:lnSpc>
                <a:spcPct val="110000"/>
              </a:lnSpc>
              <a:buNone/>
            </a:pPr>
            <a:r>
              <a:rPr lang="en-US" sz="1200" dirty="0">
                <a:solidFill>
                  <a:srgbClr val="14213D"/>
                </a:solidFill>
                <a:latin typeface="Calibri" pitchFamily="34" charset="0"/>
                <a:ea typeface="Calibri" pitchFamily="34" charset="-122"/>
                <a:cs typeface="Calibri" pitchFamily="34" charset="-120"/>
              </a:rPr>
              <a:t>Buzzer + LEDs</a:t>
            </a:r>
            <a:endParaRPr lang="en-US" sz="1200" dirty="0"/>
          </a:p>
        </p:txBody>
      </p:sp>
      <p:sp>
        <p:nvSpPr>
          <p:cNvPr id="33" name="Shape 31"/>
          <p:cNvSpPr/>
          <p:nvPr/>
        </p:nvSpPr>
        <p:spPr>
          <a:xfrm>
            <a:off x="8412480" y="4389120"/>
            <a:ext cx="365760" cy="365760"/>
          </a:xfrm>
          <a:prstGeom prst="ellipse">
            <a:avLst/>
          </a:prstGeom>
          <a:solidFill>
            <a:srgbClr val="E08E45"/>
          </a:solidFill>
          <a:ln/>
        </p:spPr>
      </p:sp>
      <p:sp>
        <p:nvSpPr>
          <p:cNvPr id="34" name="Text 32"/>
          <p:cNvSpPr/>
          <p:nvPr/>
        </p:nvSpPr>
        <p:spPr>
          <a:xfrm>
            <a:off x="8412480" y="4389120"/>
            <a:ext cx="365760" cy="365760"/>
          </a:xfrm>
          <a:prstGeom prst="rect">
            <a:avLst/>
          </a:prstGeom>
          <a:noFill/>
          <a:ln/>
        </p:spPr>
        <p:txBody>
          <a:bodyPr wrap="square" lIns="0" tIns="0" rIns="0" bIns="0" rtlCol="0" anchor="ctr"/>
          <a:lstStyle/>
          <a:p>
            <a:pPr algn="ctr" indent="0" marL="0">
              <a:buNone/>
            </a:pPr>
            <a:endParaRPr lang="en-US" sz="1000" dirty="0"/>
          </a:p>
        </p:txBody>
      </p:sp>
      <p:sp>
        <p:nvSpPr>
          <p:cNvPr id="35" name="Text 33"/>
          <p:cNvSpPr/>
          <p:nvPr/>
        </p:nvSpPr>
        <p:spPr>
          <a:xfrm>
            <a:off x="8915400" y="4251960"/>
            <a:ext cx="2240280" cy="640080"/>
          </a:xfrm>
          <a:prstGeom prst="rect">
            <a:avLst/>
          </a:prstGeom>
          <a:noFill/>
          <a:ln/>
        </p:spPr>
        <p:txBody>
          <a:bodyPr wrap="square" lIns="0" tIns="0" rIns="0" bIns="0" rtlCol="0" anchor="ctr"/>
          <a:lstStyle/>
          <a:p>
            <a:pPr indent="0" marL="0">
              <a:lnSpc>
                <a:spcPct val="110000"/>
              </a:lnSpc>
              <a:buNone/>
            </a:pPr>
            <a:r>
              <a:rPr lang="en-US" sz="1200" dirty="0">
                <a:solidFill>
                  <a:srgbClr val="14213D"/>
                </a:solidFill>
                <a:latin typeface="Calibri" pitchFamily="34" charset="0"/>
                <a:ea typeface="Calibri" pitchFamily="34" charset="-122"/>
                <a:cs typeface="Calibri" pitchFamily="34" charset="-120"/>
              </a:rPr>
              <a:t>Door / Window / Sprinkler Servos</a:t>
            </a:r>
            <a:endParaRPr lang="en-US" sz="1200" dirty="0"/>
          </a:p>
        </p:txBody>
      </p:sp>
      <p:sp>
        <p:nvSpPr>
          <p:cNvPr id="36" name="Text 34"/>
          <p:cNvSpPr/>
          <p:nvPr/>
        </p:nvSpPr>
        <p:spPr>
          <a:xfrm>
            <a:off x="640080" y="5623560"/>
            <a:ext cx="10881360" cy="54864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Every loop cycle re-reads all three sensors, so the display and actuators always reflect current conditions — no manual reset is needed for the system to clear an alert once a hazard passes.</a:t>
            </a:r>
            <a:endParaRPr lang="en-US" sz="1150" dirty="0"/>
          </a:p>
        </p:txBody>
      </p:sp>
      <p:sp>
        <p:nvSpPr>
          <p:cNvPr id="37" name="Text 35"/>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38" name="Text 36"/>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WIRING WALKTHROUGH  ·  1 OF 5</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The Complete Circuit</a:t>
            </a:r>
            <a:endParaRPr lang="en-US" sz="3200" dirty="0"/>
          </a:p>
        </p:txBody>
      </p:sp>
      <p:sp>
        <p:nvSpPr>
          <p:cNvPr id="4" name="Shape 2"/>
          <p:cNvSpPr/>
          <p:nvPr/>
        </p:nvSpPr>
        <p:spPr>
          <a:xfrm>
            <a:off x="457200" y="1600200"/>
            <a:ext cx="6858000" cy="4343400"/>
          </a:xfrm>
          <a:prstGeom prst="roundRect">
            <a:avLst>
              <a:gd name="adj" fmla="val 1684"/>
            </a:avLst>
          </a:prstGeom>
          <a:solidFill>
            <a:srgbClr val="FFFFFF"/>
          </a:solidFill>
          <a:ln/>
          <a:effectLst>
            <a:outerShdw sx="100000" sy="100000" kx="0" ky="0" algn="bl" rotWithShape="0" blurRad="76200" dist="25400" dir="5400000">
              <a:srgbClr val="1B2A4A">
                <a:alpha val="18000"/>
              </a:srgbClr>
            </a:outerShdw>
          </a:effectLst>
        </p:spPr>
      </p:sp>
      <p:pic>
        <p:nvPicPr>
          <p:cNvPr id="5" name="Image 0" descr="images/wiring_overview.png">    </p:cNvPr>
          <p:cNvPicPr>
            <a:picLocks noChangeAspect="1"/>
          </p:cNvPicPr>
          <p:nvPr/>
        </p:nvPicPr>
        <p:blipFill>
          <a:blip r:embed="rId1"/>
          <a:stretch>
            <a:fillRect/>
          </a:stretch>
        </p:blipFill>
        <p:spPr>
          <a:xfrm>
            <a:off x="548640" y="2056052"/>
            <a:ext cx="6675120" cy="3431696"/>
          </a:xfrm>
          <a:prstGeom prst="rect">
            <a:avLst/>
          </a:prstGeom>
        </p:spPr>
      </p:pic>
      <p:sp>
        <p:nvSpPr>
          <p:cNvPr id="6" name="Shape 3"/>
          <p:cNvSpPr/>
          <p:nvPr/>
        </p:nvSpPr>
        <p:spPr>
          <a:xfrm>
            <a:off x="548640" y="1673352"/>
            <a:ext cx="2377440" cy="365760"/>
          </a:xfrm>
          <a:prstGeom prst="roundRect">
            <a:avLst>
              <a:gd name="adj" fmla="val 15000"/>
            </a:avLst>
          </a:prstGeom>
          <a:solidFill>
            <a:srgbClr val="14213D"/>
          </a:solidFill>
          <a:ln/>
        </p:spPr>
      </p:sp>
      <p:sp>
        <p:nvSpPr>
          <p:cNvPr id="7" name="Text 4"/>
          <p:cNvSpPr/>
          <p:nvPr/>
        </p:nvSpPr>
        <p:spPr>
          <a:xfrm>
            <a:off x="548640" y="1673352"/>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OVERVIEW</a:t>
            </a:r>
            <a:endParaRPr lang="en-US" sz="1100" dirty="0"/>
          </a:p>
        </p:txBody>
      </p:sp>
      <p:sp>
        <p:nvSpPr>
          <p:cNvPr id="8" name="Shape 5"/>
          <p:cNvSpPr/>
          <p:nvPr/>
        </p:nvSpPr>
        <p:spPr>
          <a:xfrm>
            <a:off x="7498080" y="1783080"/>
            <a:ext cx="128016" cy="128016"/>
          </a:xfrm>
          <a:prstGeom prst="ellipse">
            <a:avLst/>
          </a:prstGeom>
          <a:solidFill>
            <a:srgbClr val="3A86FF"/>
          </a:solidFill>
          <a:ln/>
        </p:spPr>
      </p:sp>
      <p:sp>
        <p:nvSpPr>
          <p:cNvPr id="9" name="Text 6"/>
          <p:cNvSpPr/>
          <p:nvPr/>
        </p:nvSpPr>
        <p:spPr>
          <a:xfrm>
            <a:off x="7772400" y="166420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Arduino Uno as the hub</a:t>
            </a:r>
            <a:endParaRPr lang="en-US" sz="1300" dirty="0"/>
          </a:p>
        </p:txBody>
      </p:sp>
      <p:sp>
        <p:nvSpPr>
          <p:cNvPr id="10" name="Text 7"/>
          <p:cNvSpPr/>
          <p:nvPr/>
        </p:nvSpPr>
        <p:spPr>
          <a:xfrm>
            <a:off x="7772400" y="195681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All sensors, the LCD, buzzer, LEDs, and three servos connect back to the Uno's digital and analog headers.</a:t>
            </a:r>
            <a:endParaRPr lang="en-US" sz="1050" dirty="0"/>
          </a:p>
        </p:txBody>
      </p:sp>
      <p:sp>
        <p:nvSpPr>
          <p:cNvPr id="11" name="Shape 8"/>
          <p:cNvSpPr/>
          <p:nvPr/>
        </p:nvSpPr>
        <p:spPr>
          <a:xfrm>
            <a:off x="7498080" y="2743200"/>
            <a:ext cx="128016" cy="128016"/>
          </a:xfrm>
          <a:prstGeom prst="ellipse">
            <a:avLst/>
          </a:prstGeom>
          <a:solidFill>
            <a:srgbClr val="3A86FF"/>
          </a:solidFill>
          <a:ln/>
        </p:spPr>
      </p:sp>
      <p:sp>
        <p:nvSpPr>
          <p:cNvPr id="12" name="Text 9"/>
          <p:cNvSpPr/>
          <p:nvPr/>
        </p:nvSpPr>
        <p:spPr>
          <a:xfrm>
            <a:off x="7772400" y="262432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Power rails</a:t>
            </a:r>
            <a:endParaRPr lang="en-US" sz="1300" dirty="0"/>
          </a:p>
        </p:txBody>
      </p:sp>
      <p:sp>
        <p:nvSpPr>
          <p:cNvPr id="13" name="Text 10"/>
          <p:cNvSpPr/>
          <p:nvPr/>
        </p:nvSpPr>
        <p:spPr>
          <a:xfrm>
            <a:off x="7772400" y="291693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5V and GND are bussed along the top and bottom rails of both breadboards, feeding every component.</a:t>
            </a:r>
            <a:endParaRPr lang="en-US" sz="1050" dirty="0"/>
          </a:p>
        </p:txBody>
      </p:sp>
      <p:sp>
        <p:nvSpPr>
          <p:cNvPr id="14" name="Shape 11"/>
          <p:cNvSpPr/>
          <p:nvPr/>
        </p:nvSpPr>
        <p:spPr>
          <a:xfrm>
            <a:off x="7498080" y="3703320"/>
            <a:ext cx="128016" cy="128016"/>
          </a:xfrm>
          <a:prstGeom prst="ellipse">
            <a:avLst/>
          </a:prstGeom>
          <a:solidFill>
            <a:srgbClr val="3A86FF"/>
          </a:solidFill>
          <a:ln/>
        </p:spPr>
      </p:sp>
      <p:sp>
        <p:nvSpPr>
          <p:cNvPr id="15" name="Text 12"/>
          <p:cNvSpPr/>
          <p:nvPr/>
        </p:nvSpPr>
        <p:spPr>
          <a:xfrm>
            <a:off x="7772400" y="358444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PIR + buzzer up top</a:t>
            </a:r>
            <a:endParaRPr lang="en-US" sz="1300" dirty="0"/>
          </a:p>
        </p:txBody>
      </p:sp>
      <p:sp>
        <p:nvSpPr>
          <p:cNvPr id="16" name="Text 13"/>
          <p:cNvSpPr/>
          <p:nvPr/>
        </p:nvSpPr>
        <p:spPr>
          <a:xfrm>
            <a:off x="7772400" y="387705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Mounted above the breadboard for a clean, unobstructed sensing field.</a:t>
            </a:r>
            <a:endParaRPr lang="en-US" sz="1050" dirty="0"/>
          </a:p>
        </p:txBody>
      </p:sp>
      <p:sp>
        <p:nvSpPr>
          <p:cNvPr id="17" name="Shape 14"/>
          <p:cNvSpPr/>
          <p:nvPr/>
        </p:nvSpPr>
        <p:spPr>
          <a:xfrm>
            <a:off x="7498080" y="4663440"/>
            <a:ext cx="128016" cy="128016"/>
          </a:xfrm>
          <a:prstGeom prst="ellipse">
            <a:avLst/>
          </a:prstGeom>
          <a:solidFill>
            <a:srgbClr val="3A86FF"/>
          </a:solidFill>
          <a:ln/>
        </p:spPr>
      </p:sp>
      <p:sp>
        <p:nvSpPr>
          <p:cNvPr id="18" name="Text 15"/>
          <p:cNvSpPr/>
          <p:nvPr/>
        </p:nvSpPr>
        <p:spPr>
          <a:xfrm>
            <a:off x="7772400" y="454456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Sensors on the right</a:t>
            </a:r>
            <a:endParaRPr lang="en-US" sz="1300" dirty="0"/>
          </a:p>
        </p:txBody>
      </p:sp>
      <p:sp>
        <p:nvSpPr>
          <p:cNvPr id="19" name="Text 16"/>
          <p:cNvSpPr/>
          <p:nvPr/>
        </p:nvSpPr>
        <p:spPr>
          <a:xfrm>
            <a:off x="7772400" y="483717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The MQ2 gas element and TMP36 sit beside the three servos (door, window, sprinkler).</a:t>
            </a:r>
            <a:endParaRPr lang="en-US" sz="1050" dirty="0"/>
          </a:p>
        </p:txBody>
      </p:sp>
      <p:sp>
        <p:nvSpPr>
          <p:cNvPr id="20" name="Text 17"/>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21" name="Text 1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WIRING WALKTHROUGH  ·  2 OF 5</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Safe Mode — All Clear</a:t>
            </a:r>
            <a:endParaRPr lang="en-US" sz="3200" dirty="0"/>
          </a:p>
        </p:txBody>
      </p:sp>
      <p:sp>
        <p:nvSpPr>
          <p:cNvPr id="4" name="Shape 2"/>
          <p:cNvSpPr/>
          <p:nvPr/>
        </p:nvSpPr>
        <p:spPr>
          <a:xfrm>
            <a:off x="457200" y="1600200"/>
            <a:ext cx="6858000" cy="4343400"/>
          </a:xfrm>
          <a:prstGeom prst="roundRect">
            <a:avLst>
              <a:gd name="adj" fmla="val 1684"/>
            </a:avLst>
          </a:prstGeom>
          <a:solidFill>
            <a:srgbClr val="FFFFFF"/>
          </a:solidFill>
          <a:ln/>
          <a:effectLst>
            <a:outerShdw sx="100000" sy="100000" kx="0" ky="0" algn="bl" rotWithShape="0" blurRad="76200" dist="25400" dir="5400000">
              <a:srgbClr val="1B2A4A">
                <a:alpha val="18000"/>
              </a:srgbClr>
            </a:outerShdw>
          </a:effectLst>
        </p:spPr>
      </p:sp>
      <p:pic>
        <p:nvPicPr>
          <p:cNvPr id="5" name="Image 0" descr="images/wiring_safe.png">    </p:cNvPr>
          <p:cNvPicPr>
            <a:picLocks noChangeAspect="1"/>
          </p:cNvPicPr>
          <p:nvPr/>
        </p:nvPicPr>
        <p:blipFill>
          <a:blip r:embed="rId1"/>
          <a:stretch>
            <a:fillRect/>
          </a:stretch>
        </p:blipFill>
        <p:spPr>
          <a:xfrm>
            <a:off x="548640" y="2095984"/>
            <a:ext cx="6675120" cy="3351832"/>
          </a:xfrm>
          <a:prstGeom prst="rect">
            <a:avLst/>
          </a:prstGeom>
        </p:spPr>
      </p:pic>
      <p:sp>
        <p:nvSpPr>
          <p:cNvPr id="6" name="Shape 3"/>
          <p:cNvSpPr/>
          <p:nvPr/>
        </p:nvSpPr>
        <p:spPr>
          <a:xfrm>
            <a:off x="548640" y="1673352"/>
            <a:ext cx="2377440" cy="365760"/>
          </a:xfrm>
          <a:prstGeom prst="roundRect">
            <a:avLst>
              <a:gd name="adj" fmla="val 15000"/>
            </a:avLst>
          </a:prstGeom>
          <a:solidFill>
            <a:srgbClr val="2A9D8F"/>
          </a:solidFill>
          <a:ln/>
        </p:spPr>
      </p:sp>
      <p:sp>
        <p:nvSpPr>
          <p:cNvPr id="7" name="Text 4"/>
          <p:cNvSpPr/>
          <p:nvPr/>
        </p:nvSpPr>
        <p:spPr>
          <a:xfrm>
            <a:off x="548640" y="1673352"/>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SAFE MODE</a:t>
            </a:r>
            <a:endParaRPr lang="en-US" sz="1100" dirty="0"/>
          </a:p>
        </p:txBody>
      </p:sp>
      <p:sp>
        <p:nvSpPr>
          <p:cNvPr id="8" name="Shape 5"/>
          <p:cNvSpPr/>
          <p:nvPr/>
        </p:nvSpPr>
        <p:spPr>
          <a:xfrm>
            <a:off x="7498080" y="1783080"/>
            <a:ext cx="128016" cy="128016"/>
          </a:xfrm>
          <a:prstGeom prst="ellipse">
            <a:avLst/>
          </a:prstGeom>
          <a:solidFill>
            <a:srgbClr val="3A86FF"/>
          </a:solidFill>
          <a:ln/>
        </p:spPr>
      </p:sp>
      <p:sp>
        <p:nvSpPr>
          <p:cNvPr id="9" name="Text 6"/>
          <p:cNvSpPr/>
          <p:nvPr/>
        </p:nvSpPr>
        <p:spPr>
          <a:xfrm>
            <a:off x="7772400" y="166420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Default resting state</a:t>
            </a:r>
            <a:endParaRPr lang="en-US" sz="1300" dirty="0"/>
          </a:p>
        </p:txBody>
      </p:sp>
      <p:sp>
        <p:nvSpPr>
          <p:cNvPr id="10" name="Text 7"/>
          <p:cNvSpPr/>
          <p:nvPr/>
        </p:nvSpPr>
        <p:spPr>
          <a:xfrm>
            <a:off x="7772400" y="195681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This is what the circuit shows the moment the sketch boots and no hazard is present.</a:t>
            </a:r>
            <a:endParaRPr lang="en-US" sz="1050" dirty="0"/>
          </a:p>
        </p:txBody>
      </p:sp>
      <p:sp>
        <p:nvSpPr>
          <p:cNvPr id="11" name="Shape 8"/>
          <p:cNvSpPr/>
          <p:nvPr/>
        </p:nvSpPr>
        <p:spPr>
          <a:xfrm>
            <a:off x="7498080" y="2743200"/>
            <a:ext cx="128016" cy="128016"/>
          </a:xfrm>
          <a:prstGeom prst="ellipse">
            <a:avLst/>
          </a:prstGeom>
          <a:solidFill>
            <a:srgbClr val="3A86FF"/>
          </a:solidFill>
          <a:ln/>
        </p:spPr>
      </p:sp>
      <p:sp>
        <p:nvSpPr>
          <p:cNvPr id="12" name="Text 9"/>
          <p:cNvSpPr/>
          <p:nvPr/>
        </p:nvSpPr>
        <p:spPr>
          <a:xfrm>
            <a:off x="7772400" y="262432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Green LED lit, red LED off</a:t>
            </a:r>
            <a:endParaRPr lang="en-US" sz="1300" dirty="0"/>
          </a:p>
        </p:txBody>
      </p:sp>
      <p:sp>
        <p:nvSpPr>
          <p:cNvPr id="13" name="Text 10"/>
          <p:cNvSpPr/>
          <p:nvPr/>
        </p:nvSpPr>
        <p:spPr>
          <a:xfrm>
            <a:off x="7772400" y="291693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A simple, instant visual cue that the home is currently secure.</a:t>
            </a:r>
            <a:endParaRPr lang="en-US" sz="1050" dirty="0"/>
          </a:p>
        </p:txBody>
      </p:sp>
      <p:sp>
        <p:nvSpPr>
          <p:cNvPr id="14" name="Shape 11"/>
          <p:cNvSpPr/>
          <p:nvPr/>
        </p:nvSpPr>
        <p:spPr>
          <a:xfrm>
            <a:off x="7498080" y="3703320"/>
            <a:ext cx="128016" cy="128016"/>
          </a:xfrm>
          <a:prstGeom prst="ellipse">
            <a:avLst/>
          </a:prstGeom>
          <a:solidFill>
            <a:srgbClr val="3A86FF"/>
          </a:solidFill>
          <a:ln/>
        </p:spPr>
      </p:sp>
      <p:sp>
        <p:nvSpPr>
          <p:cNvPr id="15" name="Text 12"/>
          <p:cNvSpPr/>
          <p:nvPr/>
        </p:nvSpPr>
        <p:spPr>
          <a:xfrm>
            <a:off x="7772400" y="358444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LCD reads SYSTEM SECURE / All Clear</a:t>
            </a:r>
            <a:endParaRPr lang="en-US" sz="1300" dirty="0"/>
          </a:p>
        </p:txBody>
      </p:sp>
      <p:sp>
        <p:nvSpPr>
          <p:cNvPr id="16" name="Text 13"/>
          <p:cNvSpPr/>
          <p:nvPr/>
        </p:nvSpPr>
        <p:spPr>
          <a:xfrm>
            <a:off x="7772400" y="387705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Refreshed only when the message changes, so the display never flickers.</a:t>
            </a:r>
            <a:endParaRPr lang="en-US" sz="1050" dirty="0"/>
          </a:p>
        </p:txBody>
      </p:sp>
      <p:sp>
        <p:nvSpPr>
          <p:cNvPr id="17" name="Shape 14"/>
          <p:cNvSpPr/>
          <p:nvPr/>
        </p:nvSpPr>
        <p:spPr>
          <a:xfrm>
            <a:off x="7498080" y="4663440"/>
            <a:ext cx="128016" cy="128016"/>
          </a:xfrm>
          <a:prstGeom prst="ellipse">
            <a:avLst/>
          </a:prstGeom>
          <a:solidFill>
            <a:srgbClr val="3A86FF"/>
          </a:solidFill>
          <a:ln/>
        </p:spPr>
      </p:sp>
      <p:sp>
        <p:nvSpPr>
          <p:cNvPr id="18" name="Text 15"/>
          <p:cNvSpPr/>
          <p:nvPr/>
        </p:nvSpPr>
        <p:spPr>
          <a:xfrm>
            <a:off x="7772400" y="454456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All servos at 0°</a:t>
            </a:r>
            <a:endParaRPr lang="en-US" sz="1300" dirty="0"/>
          </a:p>
        </p:txBody>
      </p:sp>
      <p:sp>
        <p:nvSpPr>
          <p:cNvPr id="19" name="Text 16"/>
          <p:cNvSpPr/>
          <p:nvPr/>
        </p:nvSpPr>
        <p:spPr>
          <a:xfrm>
            <a:off x="7772400" y="483717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Door unlocked, window closed, sprinkler off — the neutral position for every actuator.</a:t>
            </a:r>
            <a:endParaRPr lang="en-US" sz="1050" dirty="0"/>
          </a:p>
        </p:txBody>
      </p:sp>
      <p:sp>
        <p:nvSpPr>
          <p:cNvPr id="20" name="Text 17"/>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21" name="Text 1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WIRING WALKTHROUGH  ·  3 OF 5</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Gas Leak Response</a:t>
            </a:r>
            <a:endParaRPr lang="en-US" sz="3200" dirty="0"/>
          </a:p>
        </p:txBody>
      </p:sp>
      <p:sp>
        <p:nvSpPr>
          <p:cNvPr id="4" name="Shape 2"/>
          <p:cNvSpPr/>
          <p:nvPr/>
        </p:nvSpPr>
        <p:spPr>
          <a:xfrm>
            <a:off x="457200" y="1600200"/>
            <a:ext cx="6858000" cy="4343400"/>
          </a:xfrm>
          <a:prstGeom prst="roundRect">
            <a:avLst>
              <a:gd name="adj" fmla="val 1684"/>
            </a:avLst>
          </a:prstGeom>
          <a:solidFill>
            <a:srgbClr val="FFFFFF"/>
          </a:solidFill>
          <a:ln/>
          <a:effectLst>
            <a:outerShdw sx="100000" sy="100000" kx="0" ky="0" algn="bl" rotWithShape="0" blurRad="76200" dist="25400" dir="5400000">
              <a:srgbClr val="1B2A4A">
                <a:alpha val="18000"/>
              </a:srgbClr>
            </a:outerShdw>
          </a:effectLst>
        </p:spPr>
      </p:sp>
      <p:pic>
        <p:nvPicPr>
          <p:cNvPr id="5" name="Image 0" descr="images/wiring_gas.png">    </p:cNvPr>
          <p:cNvPicPr>
            <a:picLocks noChangeAspect="1"/>
          </p:cNvPicPr>
          <p:nvPr/>
        </p:nvPicPr>
        <p:blipFill>
          <a:blip r:embed="rId1"/>
          <a:stretch>
            <a:fillRect/>
          </a:stretch>
        </p:blipFill>
        <p:spPr>
          <a:xfrm>
            <a:off x="548640" y="1811037"/>
            <a:ext cx="6675120" cy="3921726"/>
          </a:xfrm>
          <a:prstGeom prst="rect">
            <a:avLst/>
          </a:prstGeom>
        </p:spPr>
      </p:pic>
      <p:sp>
        <p:nvSpPr>
          <p:cNvPr id="6" name="Shape 3"/>
          <p:cNvSpPr/>
          <p:nvPr/>
        </p:nvSpPr>
        <p:spPr>
          <a:xfrm>
            <a:off x="548640" y="1673352"/>
            <a:ext cx="2377440" cy="365760"/>
          </a:xfrm>
          <a:prstGeom prst="roundRect">
            <a:avLst>
              <a:gd name="adj" fmla="val 15000"/>
            </a:avLst>
          </a:prstGeom>
          <a:solidFill>
            <a:srgbClr val="E08E45"/>
          </a:solidFill>
          <a:ln/>
        </p:spPr>
      </p:sp>
      <p:sp>
        <p:nvSpPr>
          <p:cNvPr id="7" name="Text 4"/>
          <p:cNvSpPr/>
          <p:nvPr/>
        </p:nvSpPr>
        <p:spPr>
          <a:xfrm>
            <a:off x="548640" y="1673352"/>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GAS LEAK</a:t>
            </a:r>
            <a:endParaRPr lang="en-US" sz="1100" dirty="0"/>
          </a:p>
        </p:txBody>
      </p:sp>
      <p:sp>
        <p:nvSpPr>
          <p:cNvPr id="8" name="Shape 5"/>
          <p:cNvSpPr/>
          <p:nvPr/>
        </p:nvSpPr>
        <p:spPr>
          <a:xfrm>
            <a:off x="7498080" y="1783080"/>
            <a:ext cx="128016" cy="128016"/>
          </a:xfrm>
          <a:prstGeom prst="ellipse">
            <a:avLst/>
          </a:prstGeom>
          <a:solidFill>
            <a:srgbClr val="3A86FF"/>
          </a:solidFill>
          <a:ln/>
        </p:spPr>
      </p:sp>
      <p:sp>
        <p:nvSpPr>
          <p:cNvPr id="9" name="Text 6"/>
          <p:cNvSpPr/>
          <p:nvPr/>
        </p:nvSpPr>
        <p:spPr>
          <a:xfrm>
            <a:off x="7772400" y="166420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MQ2 crosses the threshold</a:t>
            </a:r>
            <a:endParaRPr lang="en-US" sz="1300" dirty="0"/>
          </a:p>
        </p:txBody>
      </p:sp>
      <p:sp>
        <p:nvSpPr>
          <p:cNvPr id="10" name="Text 7"/>
          <p:cNvSpPr/>
          <p:nvPr/>
        </p:nvSpPr>
        <p:spPr>
          <a:xfrm>
            <a:off x="7772400" y="195681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Once analogRead(A4) exceeds 300, the code calls triggerGasLeak().</a:t>
            </a:r>
            <a:endParaRPr lang="en-US" sz="1050" dirty="0"/>
          </a:p>
        </p:txBody>
      </p:sp>
      <p:sp>
        <p:nvSpPr>
          <p:cNvPr id="11" name="Shape 8"/>
          <p:cNvSpPr/>
          <p:nvPr/>
        </p:nvSpPr>
        <p:spPr>
          <a:xfrm>
            <a:off x="7498080" y="2743200"/>
            <a:ext cx="128016" cy="128016"/>
          </a:xfrm>
          <a:prstGeom prst="ellipse">
            <a:avLst/>
          </a:prstGeom>
          <a:solidFill>
            <a:srgbClr val="3A86FF"/>
          </a:solidFill>
          <a:ln/>
        </p:spPr>
      </p:sp>
      <p:sp>
        <p:nvSpPr>
          <p:cNvPr id="12" name="Text 9"/>
          <p:cNvSpPr/>
          <p:nvPr/>
        </p:nvSpPr>
        <p:spPr>
          <a:xfrm>
            <a:off x="7772400" y="262432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Window servo opens to 90°</a:t>
            </a:r>
            <a:endParaRPr lang="en-US" sz="1300" dirty="0"/>
          </a:p>
        </p:txBody>
      </p:sp>
      <p:sp>
        <p:nvSpPr>
          <p:cNvPr id="13" name="Text 10"/>
          <p:cNvSpPr/>
          <p:nvPr/>
        </p:nvSpPr>
        <p:spPr>
          <a:xfrm>
            <a:off x="7772400" y="291693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Servo 2 rotates immediately to represent a window opening for ventilation.</a:t>
            </a:r>
            <a:endParaRPr lang="en-US" sz="1050" dirty="0"/>
          </a:p>
        </p:txBody>
      </p:sp>
      <p:sp>
        <p:nvSpPr>
          <p:cNvPr id="14" name="Shape 11"/>
          <p:cNvSpPr/>
          <p:nvPr/>
        </p:nvSpPr>
        <p:spPr>
          <a:xfrm>
            <a:off x="7498080" y="3703320"/>
            <a:ext cx="128016" cy="128016"/>
          </a:xfrm>
          <a:prstGeom prst="ellipse">
            <a:avLst/>
          </a:prstGeom>
          <a:solidFill>
            <a:srgbClr val="3A86FF"/>
          </a:solidFill>
          <a:ln/>
        </p:spPr>
      </p:sp>
      <p:sp>
        <p:nvSpPr>
          <p:cNvPr id="15" name="Text 12"/>
          <p:cNvSpPr/>
          <p:nvPr/>
        </p:nvSpPr>
        <p:spPr>
          <a:xfrm>
            <a:off x="7772400" y="358444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LCD reads GAS LEAK ALERT / Window Opened</a:t>
            </a:r>
            <a:endParaRPr lang="en-US" sz="1300" dirty="0"/>
          </a:p>
        </p:txBody>
      </p:sp>
      <p:sp>
        <p:nvSpPr>
          <p:cNvPr id="16" name="Text 13"/>
          <p:cNvSpPr/>
          <p:nvPr/>
        </p:nvSpPr>
        <p:spPr>
          <a:xfrm>
            <a:off x="7772400" y="387705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Clear, specific feedback — not just a generic alarm.</a:t>
            </a:r>
            <a:endParaRPr lang="en-US" sz="1050" dirty="0"/>
          </a:p>
        </p:txBody>
      </p:sp>
      <p:sp>
        <p:nvSpPr>
          <p:cNvPr id="17" name="Shape 14"/>
          <p:cNvSpPr/>
          <p:nvPr/>
        </p:nvSpPr>
        <p:spPr>
          <a:xfrm>
            <a:off x="7498080" y="4663440"/>
            <a:ext cx="128016" cy="128016"/>
          </a:xfrm>
          <a:prstGeom prst="ellipse">
            <a:avLst/>
          </a:prstGeom>
          <a:solidFill>
            <a:srgbClr val="3A86FF"/>
          </a:solidFill>
          <a:ln/>
        </p:spPr>
      </p:sp>
      <p:sp>
        <p:nvSpPr>
          <p:cNvPr id="18" name="Text 15"/>
          <p:cNvSpPr/>
          <p:nvPr/>
        </p:nvSpPr>
        <p:spPr>
          <a:xfrm>
            <a:off x="7772400" y="454456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Buzzer tones at 1500Hz</a:t>
            </a:r>
            <a:endParaRPr lang="en-US" sz="1300" dirty="0"/>
          </a:p>
        </p:txBody>
      </p:sp>
      <p:sp>
        <p:nvSpPr>
          <p:cNvPr id="19" name="Text 16"/>
          <p:cNvSpPr/>
          <p:nvPr/>
        </p:nvSpPr>
        <p:spPr>
          <a:xfrm>
            <a:off x="7772400" y="483717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A distinct pitch from the fire and intruder alerts, so occupants can tell hazards apart by ear.</a:t>
            </a:r>
            <a:endParaRPr lang="en-US" sz="1050" dirty="0"/>
          </a:p>
        </p:txBody>
      </p:sp>
      <p:sp>
        <p:nvSpPr>
          <p:cNvPr id="20" name="Text 17"/>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21" name="Text 1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WIRING WALKTHROUGH  ·  4 OF 5</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Intruder Detection</a:t>
            </a:r>
            <a:endParaRPr lang="en-US" sz="3200" dirty="0"/>
          </a:p>
        </p:txBody>
      </p:sp>
      <p:sp>
        <p:nvSpPr>
          <p:cNvPr id="4" name="Shape 2"/>
          <p:cNvSpPr/>
          <p:nvPr/>
        </p:nvSpPr>
        <p:spPr>
          <a:xfrm>
            <a:off x="457200" y="1600200"/>
            <a:ext cx="6858000" cy="4343400"/>
          </a:xfrm>
          <a:prstGeom prst="roundRect">
            <a:avLst>
              <a:gd name="adj" fmla="val 1684"/>
            </a:avLst>
          </a:prstGeom>
          <a:solidFill>
            <a:srgbClr val="FFFFFF"/>
          </a:solidFill>
          <a:ln/>
          <a:effectLst>
            <a:outerShdw sx="100000" sy="100000" kx="0" ky="0" algn="bl" rotWithShape="0" blurRad="76200" dist="25400" dir="5400000">
              <a:srgbClr val="1B2A4A">
                <a:alpha val="18000"/>
              </a:srgbClr>
            </a:outerShdw>
          </a:effectLst>
        </p:spPr>
      </p:sp>
      <p:pic>
        <p:nvPicPr>
          <p:cNvPr id="5" name="Image 0" descr="images/wiring_intruder.png">    </p:cNvPr>
          <p:cNvPicPr>
            <a:picLocks noChangeAspect="1"/>
          </p:cNvPicPr>
          <p:nvPr/>
        </p:nvPicPr>
        <p:blipFill>
          <a:blip r:embed="rId1"/>
          <a:stretch>
            <a:fillRect/>
          </a:stretch>
        </p:blipFill>
        <p:spPr>
          <a:xfrm>
            <a:off x="548640" y="1725860"/>
            <a:ext cx="6675120" cy="4092080"/>
          </a:xfrm>
          <a:prstGeom prst="rect">
            <a:avLst/>
          </a:prstGeom>
        </p:spPr>
      </p:pic>
      <p:sp>
        <p:nvSpPr>
          <p:cNvPr id="6" name="Shape 3"/>
          <p:cNvSpPr/>
          <p:nvPr/>
        </p:nvSpPr>
        <p:spPr>
          <a:xfrm>
            <a:off x="548640" y="1673352"/>
            <a:ext cx="2377440" cy="365760"/>
          </a:xfrm>
          <a:prstGeom prst="roundRect">
            <a:avLst>
              <a:gd name="adj" fmla="val 15000"/>
            </a:avLst>
          </a:prstGeom>
          <a:solidFill>
            <a:srgbClr val="14213D"/>
          </a:solidFill>
          <a:ln/>
        </p:spPr>
      </p:sp>
      <p:sp>
        <p:nvSpPr>
          <p:cNvPr id="7" name="Text 4"/>
          <p:cNvSpPr/>
          <p:nvPr/>
        </p:nvSpPr>
        <p:spPr>
          <a:xfrm>
            <a:off x="548640" y="1673352"/>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INTRUSION</a:t>
            </a:r>
            <a:endParaRPr lang="en-US" sz="1100" dirty="0"/>
          </a:p>
        </p:txBody>
      </p:sp>
      <p:sp>
        <p:nvSpPr>
          <p:cNvPr id="8" name="Shape 5"/>
          <p:cNvSpPr/>
          <p:nvPr/>
        </p:nvSpPr>
        <p:spPr>
          <a:xfrm>
            <a:off x="7498080" y="1783080"/>
            <a:ext cx="128016" cy="128016"/>
          </a:xfrm>
          <a:prstGeom prst="ellipse">
            <a:avLst/>
          </a:prstGeom>
          <a:solidFill>
            <a:srgbClr val="3A86FF"/>
          </a:solidFill>
          <a:ln/>
        </p:spPr>
      </p:sp>
      <p:sp>
        <p:nvSpPr>
          <p:cNvPr id="9" name="Text 6"/>
          <p:cNvSpPr/>
          <p:nvPr/>
        </p:nvSpPr>
        <p:spPr>
          <a:xfrm>
            <a:off x="7772400" y="166420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PIR sensor reads HIGH</a:t>
            </a:r>
            <a:endParaRPr lang="en-US" sz="1300" dirty="0"/>
          </a:p>
        </p:txBody>
      </p:sp>
      <p:sp>
        <p:nvSpPr>
          <p:cNvPr id="10" name="Text 7"/>
          <p:cNvSpPr/>
          <p:nvPr/>
        </p:nvSpPr>
        <p:spPr>
          <a:xfrm>
            <a:off x="7772400" y="195681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Motion within the sensor's field triggers triggerIntruder() on the very next loop.</a:t>
            </a:r>
            <a:endParaRPr lang="en-US" sz="1050" dirty="0"/>
          </a:p>
        </p:txBody>
      </p:sp>
      <p:sp>
        <p:nvSpPr>
          <p:cNvPr id="11" name="Shape 8"/>
          <p:cNvSpPr/>
          <p:nvPr/>
        </p:nvSpPr>
        <p:spPr>
          <a:xfrm>
            <a:off x="7498080" y="2743200"/>
            <a:ext cx="128016" cy="128016"/>
          </a:xfrm>
          <a:prstGeom prst="ellipse">
            <a:avLst/>
          </a:prstGeom>
          <a:solidFill>
            <a:srgbClr val="3A86FF"/>
          </a:solidFill>
          <a:ln/>
        </p:spPr>
      </p:sp>
      <p:sp>
        <p:nvSpPr>
          <p:cNvPr id="12" name="Text 9"/>
          <p:cNvSpPr/>
          <p:nvPr/>
        </p:nvSpPr>
        <p:spPr>
          <a:xfrm>
            <a:off x="7772400" y="262432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Door servo locks to 90°</a:t>
            </a:r>
            <a:endParaRPr lang="en-US" sz="1300" dirty="0"/>
          </a:p>
        </p:txBody>
      </p:sp>
      <p:sp>
        <p:nvSpPr>
          <p:cNvPr id="13" name="Text 10"/>
          <p:cNvSpPr/>
          <p:nvPr/>
        </p:nvSpPr>
        <p:spPr>
          <a:xfrm>
            <a:off x="7772400" y="291693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Servo 1 rotates to represent the main door locking automatically.</a:t>
            </a:r>
            <a:endParaRPr lang="en-US" sz="1050" dirty="0"/>
          </a:p>
        </p:txBody>
      </p:sp>
      <p:sp>
        <p:nvSpPr>
          <p:cNvPr id="14" name="Shape 11"/>
          <p:cNvSpPr/>
          <p:nvPr/>
        </p:nvSpPr>
        <p:spPr>
          <a:xfrm>
            <a:off x="7498080" y="3703320"/>
            <a:ext cx="128016" cy="128016"/>
          </a:xfrm>
          <a:prstGeom prst="ellipse">
            <a:avLst/>
          </a:prstGeom>
          <a:solidFill>
            <a:srgbClr val="3A86FF"/>
          </a:solidFill>
          <a:ln/>
        </p:spPr>
      </p:sp>
      <p:sp>
        <p:nvSpPr>
          <p:cNvPr id="15" name="Text 12"/>
          <p:cNvSpPr/>
          <p:nvPr/>
        </p:nvSpPr>
        <p:spPr>
          <a:xfrm>
            <a:off x="7772400" y="358444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Red LED on, green LED off</a:t>
            </a:r>
            <a:endParaRPr lang="en-US" sz="1300" dirty="0"/>
          </a:p>
        </p:txBody>
      </p:sp>
      <p:sp>
        <p:nvSpPr>
          <p:cNvPr id="16" name="Text 13"/>
          <p:cNvSpPr/>
          <p:nvPr/>
        </p:nvSpPr>
        <p:spPr>
          <a:xfrm>
            <a:off x="7772400" y="387705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The green 'all clear' indicator is cut the instant a threat is confirmed.</a:t>
            </a:r>
            <a:endParaRPr lang="en-US" sz="1050" dirty="0"/>
          </a:p>
        </p:txBody>
      </p:sp>
      <p:sp>
        <p:nvSpPr>
          <p:cNvPr id="17" name="Shape 14"/>
          <p:cNvSpPr/>
          <p:nvPr/>
        </p:nvSpPr>
        <p:spPr>
          <a:xfrm>
            <a:off x="7498080" y="4663440"/>
            <a:ext cx="128016" cy="128016"/>
          </a:xfrm>
          <a:prstGeom prst="ellipse">
            <a:avLst/>
          </a:prstGeom>
          <a:solidFill>
            <a:srgbClr val="3A86FF"/>
          </a:solidFill>
          <a:ln/>
        </p:spPr>
      </p:sp>
      <p:sp>
        <p:nvSpPr>
          <p:cNvPr id="18" name="Text 15"/>
          <p:cNvSpPr/>
          <p:nvPr/>
        </p:nvSpPr>
        <p:spPr>
          <a:xfrm>
            <a:off x="7772400" y="454456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LCD reads INTRUDER DETECTED!</a:t>
            </a:r>
            <a:endParaRPr lang="en-US" sz="1300" dirty="0"/>
          </a:p>
        </p:txBody>
      </p:sp>
      <p:sp>
        <p:nvSpPr>
          <p:cNvPr id="19" name="Text 16"/>
          <p:cNvSpPr/>
          <p:nvPr/>
        </p:nvSpPr>
        <p:spPr>
          <a:xfrm>
            <a:off x="7772400" y="483717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Paired with a 1000Hz buzzer tone to draw immediate attention.</a:t>
            </a:r>
            <a:endParaRPr lang="en-US" sz="1050" dirty="0"/>
          </a:p>
        </p:txBody>
      </p:sp>
      <p:sp>
        <p:nvSpPr>
          <p:cNvPr id="20" name="Text 17"/>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21" name="Text 1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WIRING WALKTHROUGH  ·  5 OF 5</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Fire Detection &amp; Sprinkler</a:t>
            </a:r>
            <a:endParaRPr lang="en-US" sz="3200" dirty="0"/>
          </a:p>
        </p:txBody>
      </p:sp>
      <p:sp>
        <p:nvSpPr>
          <p:cNvPr id="4" name="Shape 2"/>
          <p:cNvSpPr/>
          <p:nvPr/>
        </p:nvSpPr>
        <p:spPr>
          <a:xfrm>
            <a:off x="457200" y="1600200"/>
            <a:ext cx="6858000" cy="4343400"/>
          </a:xfrm>
          <a:prstGeom prst="roundRect">
            <a:avLst>
              <a:gd name="adj" fmla="val 1684"/>
            </a:avLst>
          </a:prstGeom>
          <a:solidFill>
            <a:srgbClr val="FFFFFF"/>
          </a:solidFill>
          <a:ln/>
          <a:effectLst>
            <a:outerShdw sx="100000" sy="100000" kx="0" ky="0" algn="bl" rotWithShape="0" blurRad="76200" dist="25400" dir="5400000">
              <a:srgbClr val="1B2A4A">
                <a:alpha val="18000"/>
              </a:srgbClr>
            </a:outerShdw>
          </a:effectLst>
        </p:spPr>
      </p:sp>
      <p:pic>
        <p:nvPicPr>
          <p:cNvPr id="5" name="Image 0" descr="images/wiring_fire.png">    </p:cNvPr>
          <p:cNvPicPr>
            <a:picLocks noChangeAspect="1"/>
          </p:cNvPicPr>
          <p:nvPr/>
        </p:nvPicPr>
        <p:blipFill>
          <a:blip r:embed="rId1"/>
          <a:stretch>
            <a:fillRect/>
          </a:stretch>
        </p:blipFill>
        <p:spPr>
          <a:xfrm>
            <a:off x="593962" y="1691640"/>
            <a:ext cx="6584475" cy="4160520"/>
          </a:xfrm>
          <a:prstGeom prst="rect">
            <a:avLst/>
          </a:prstGeom>
        </p:spPr>
      </p:pic>
      <p:sp>
        <p:nvSpPr>
          <p:cNvPr id="6" name="Shape 3"/>
          <p:cNvSpPr/>
          <p:nvPr/>
        </p:nvSpPr>
        <p:spPr>
          <a:xfrm>
            <a:off x="548640" y="1673352"/>
            <a:ext cx="2377440" cy="365760"/>
          </a:xfrm>
          <a:prstGeom prst="roundRect">
            <a:avLst>
              <a:gd name="adj" fmla="val 15000"/>
            </a:avLst>
          </a:prstGeom>
          <a:solidFill>
            <a:srgbClr val="E63946"/>
          </a:solidFill>
          <a:ln/>
        </p:spPr>
      </p:sp>
      <p:sp>
        <p:nvSpPr>
          <p:cNvPr id="7" name="Text 4"/>
          <p:cNvSpPr/>
          <p:nvPr/>
        </p:nvSpPr>
        <p:spPr>
          <a:xfrm>
            <a:off x="548640" y="1673352"/>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FIRE</a:t>
            </a:r>
            <a:endParaRPr lang="en-US" sz="1100" dirty="0"/>
          </a:p>
        </p:txBody>
      </p:sp>
      <p:sp>
        <p:nvSpPr>
          <p:cNvPr id="8" name="Shape 5"/>
          <p:cNvSpPr/>
          <p:nvPr/>
        </p:nvSpPr>
        <p:spPr>
          <a:xfrm>
            <a:off x="7498080" y="1783080"/>
            <a:ext cx="128016" cy="128016"/>
          </a:xfrm>
          <a:prstGeom prst="ellipse">
            <a:avLst/>
          </a:prstGeom>
          <a:solidFill>
            <a:srgbClr val="3A86FF"/>
          </a:solidFill>
          <a:ln/>
        </p:spPr>
      </p:sp>
      <p:sp>
        <p:nvSpPr>
          <p:cNvPr id="9" name="Text 6"/>
          <p:cNvSpPr/>
          <p:nvPr/>
        </p:nvSpPr>
        <p:spPr>
          <a:xfrm>
            <a:off x="7772400" y="166420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TMP36 exceeds 40°C</a:t>
            </a:r>
            <a:endParaRPr lang="en-US" sz="1300" dirty="0"/>
          </a:p>
        </p:txBody>
      </p:sp>
      <p:sp>
        <p:nvSpPr>
          <p:cNvPr id="10" name="Text 7"/>
          <p:cNvSpPr/>
          <p:nvPr/>
        </p:nvSpPr>
        <p:spPr>
          <a:xfrm>
            <a:off x="7772400" y="195681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The highest-priority check in the code — fire always overrides gas and intruder alerts.</a:t>
            </a:r>
            <a:endParaRPr lang="en-US" sz="1050" dirty="0"/>
          </a:p>
        </p:txBody>
      </p:sp>
      <p:sp>
        <p:nvSpPr>
          <p:cNvPr id="11" name="Shape 8"/>
          <p:cNvSpPr/>
          <p:nvPr/>
        </p:nvSpPr>
        <p:spPr>
          <a:xfrm>
            <a:off x="7498080" y="2743200"/>
            <a:ext cx="128016" cy="128016"/>
          </a:xfrm>
          <a:prstGeom prst="ellipse">
            <a:avLst/>
          </a:prstGeom>
          <a:solidFill>
            <a:srgbClr val="3A86FF"/>
          </a:solidFill>
          <a:ln/>
        </p:spPr>
      </p:sp>
      <p:sp>
        <p:nvSpPr>
          <p:cNvPr id="12" name="Text 9"/>
          <p:cNvSpPr/>
          <p:nvPr/>
        </p:nvSpPr>
        <p:spPr>
          <a:xfrm>
            <a:off x="7772400" y="262432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Sprinkler servo activates to 90°</a:t>
            </a:r>
            <a:endParaRPr lang="en-US" sz="1300" dirty="0"/>
          </a:p>
        </p:txBody>
      </p:sp>
      <p:sp>
        <p:nvSpPr>
          <p:cNvPr id="13" name="Text 10"/>
          <p:cNvSpPr/>
          <p:nvPr/>
        </p:nvSpPr>
        <p:spPr>
          <a:xfrm>
            <a:off x="7772400" y="291693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Servo 3 represents a water valve opening to begin suppression.</a:t>
            </a:r>
            <a:endParaRPr lang="en-US" sz="1050" dirty="0"/>
          </a:p>
        </p:txBody>
      </p:sp>
      <p:sp>
        <p:nvSpPr>
          <p:cNvPr id="14" name="Shape 11"/>
          <p:cNvSpPr/>
          <p:nvPr/>
        </p:nvSpPr>
        <p:spPr>
          <a:xfrm>
            <a:off x="7498080" y="3703320"/>
            <a:ext cx="128016" cy="128016"/>
          </a:xfrm>
          <a:prstGeom prst="ellipse">
            <a:avLst/>
          </a:prstGeom>
          <a:solidFill>
            <a:srgbClr val="3A86FF"/>
          </a:solidFill>
          <a:ln/>
        </p:spPr>
      </p:sp>
      <p:sp>
        <p:nvSpPr>
          <p:cNvPr id="15" name="Text 12"/>
          <p:cNvSpPr/>
          <p:nvPr/>
        </p:nvSpPr>
        <p:spPr>
          <a:xfrm>
            <a:off x="7772400" y="358444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Red LED on + 2000Hz buzzer</a:t>
            </a:r>
            <a:endParaRPr lang="en-US" sz="1300" dirty="0"/>
          </a:p>
        </p:txBody>
      </p:sp>
      <p:sp>
        <p:nvSpPr>
          <p:cNvPr id="16" name="Text 13"/>
          <p:cNvSpPr/>
          <p:nvPr/>
        </p:nvSpPr>
        <p:spPr>
          <a:xfrm>
            <a:off x="7772400" y="387705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The sharpest, most urgent tone of the three alerts.</a:t>
            </a:r>
            <a:endParaRPr lang="en-US" sz="1050" dirty="0"/>
          </a:p>
        </p:txBody>
      </p:sp>
      <p:sp>
        <p:nvSpPr>
          <p:cNvPr id="17" name="Shape 14"/>
          <p:cNvSpPr/>
          <p:nvPr/>
        </p:nvSpPr>
        <p:spPr>
          <a:xfrm>
            <a:off x="7498080" y="4663440"/>
            <a:ext cx="128016" cy="128016"/>
          </a:xfrm>
          <a:prstGeom prst="ellipse">
            <a:avLst/>
          </a:prstGeom>
          <a:solidFill>
            <a:srgbClr val="3A86FF"/>
          </a:solidFill>
          <a:ln/>
        </p:spPr>
      </p:sp>
      <p:sp>
        <p:nvSpPr>
          <p:cNvPr id="18" name="Text 15"/>
          <p:cNvSpPr/>
          <p:nvPr/>
        </p:nvSpPr>
        <p:spPr>
          <a:xfrm>
            <a:off x="7772400" y="4544568"/>
            <a:ext cx="3840480" cy="3200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LCD reads FIRE DETECTED / Sprinkler ON</a:t>
            </a:r>
            <a:endParaRPr lang="en-US" sz="1300" dirty="0"/>
          </a:p>
        </p:txBody>
      </p:sp>
      <p:sp>
        <p:nvSpPr>
          <p:cNvPr id="19" name="Text 16"/>
          <p:cNvSpPr/>
          <p:nvPr/>
        </p:nvSpPr>
        <p:spPr>
          <a:xfrm>
            <a:off x="7772400" y="4837176"/>
            <a:ext cx="3840480" cy="64008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Calibri" pitchFamily="34" charset="0"/>
                <a:ea typeface="Calibri" pitchFamily="34" charset="-122"/>
                <a:cs typeface="Calibri" pitchFamily="34" charset="-120"/>
              </a:rPr>
              <a:t>Confirms both the hazard and the automatic response taken.</a:t>
            </a:r>
            <a:endParaRPr lang="en-US" sz="1050" dirty="0"/>
          </a:p>
        </p:txBody>
      </p:sp>
      <p:sp>
        <p:nvSpPr>
          <p:cNvPr id="20" name="Text 17"/>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21" name="Text 1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SOFTWARE LOGIC</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How the System Prioritizes Hazards</a:t>
            </a:r>
            <a:endParaRPr lang="en-US" sz="3200" dirty="0"/>
          </a:p>
        </p:txBody>
      </p:sp>
      <p:sp>
        <p:nvSpPr>
          <p:cNvPr id="4" name="Text 2"/>
          <p:cNvSpPr/>
          <p:nvPr/>
        </p:nvSpPr>
        <p:spPr>
          <a:xfrm>
            <a:off x="548640" y="1463040"/>
            <a:ext cx="10789920" cy="54864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Every ~200 milliseconds, the Arduino reads all three sensors and works through a fixed priority order — because if more than one hazard is happening at once, the most life-threatening one has to win.</a:t>
            </a:r>
            <a:endParaRPr lang="en-US" sz="1350" dirty="0"/>
          </a:p>
        </p:txBody>
      </p:sp>
      <p:sp>
        <p:nvSpPr>
          <p:cNvPr id="5" name="Shape 3"/>
          <p:cNvSpPr/>
          <p:nvPr/>
        </p:nvSpPr>
        <p:spPr>
          <a:xfrm>
            <a:off x="403708" y="2651760"/>
            <a:ext cx="2468880" cy="2377440"/>
          </a:xfrm>
          <a:prstGeom prst="roundRect">
            <a:avLst>
              <a:gd name="adj" fmla="val 3077"/>
            </a:avLst>
          </a:prstGeom>
          <a:solidFill>
            <a:srgbClr val="FFFFFF"/>
          </a:solidFill>
          <a:ln/>
          <a:effectLst>
            <a:outerShdw sx="100000" sy="100000" kx="0" ky="0" algn="bl" rotWithShape="0" blurRad="76200" dist="25400" dir="5400000">
              <a:srgbClr val="1B2A4A">
                <a:alpha val="18000"/>
              </a:srgbClr>
            </a:outerShdw>
          </a:effectLst>
        </p:spPr>
      </p:sp>
      <p:sp>
        <p:nvSpPr>
          <p:cNvPr id="6" name="Shape 4"/>
          <p:cNvSpPr/>
          <p:nvPr/>
        </p:nvSpPr>
        <p:spPr>
          <a:xfrm>
            <a:off x="1272388" y="2331720"/>
            <a:ext cx="731520" cy="731520"/>
          </a:xfrm>
          <a:prstGeom prst="ellipse">
            <a:avLst/>
          </a:prstGeom>
          <a:solidFill>
            <a:srgbClr val="E63946"/>
          </a:solidFill>
          <a:ln/>
        </p:spPr>
      </p:sp>
      <p:sp>
        <p:nvSpPr>
          <p:cNvPr id="7" name="Text 5"/>
          <p:cNvSpPr/>
          <p:nvPr/>
        </p:nvSpPr>
        <p:spPr>
          <a:xfrm>
            <a:off x="1272388" y="23317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540868" y="3291840"/>
            <a:ext cx="219456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FIRE</a:t>
            </a:r>
            <a:endParaRPr lang="en-US" sz="1600" dirty="0"/>
          </a:p>
        </p:txBody>
      </p:sp>
      <p:sp>
        <p:nvSpPr>
          <p:cNvPr id="9" name="Text 7"/>
          <p:cNvSpPr/>
          <p:nvPr/>
        </p:nvSpPr>
        <p:spPr>
          <a:xfrm>
            <a:off x="540868" y="3794760"/>
            <a:ext cx="2194560" cy="45720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Temp &gt; 40°C</a:t>
            </a:r>
            <a:endParaRPr lang="en-US" sz="1200" dirty="0"/>
          </a:p>
        </p:txBody>
      </p:sp>
      <p:sp>
        <p:nvSpPr>
          <p:cNvPr id="10" name="Shape 8"/>
          <p:cNvSpPr/>
          <p:nvPr/>
        </p:nvSpPr>
        <p:spPr>
          <a:xfrm>
            <a:off x="2918308" y="3566160"/>
            <a:ext cx="411480" cy="320040"/>
          </a:xfrm>
          <a:prstGeom prst="rightArrow">
            <a:avLst/>
          </a:prstGeom>
          <a:solidFill>
            <a:srgbClr val="CADCFC"/>
          </a:solidFill>
          <a:ln/>
        </p:spPr>
      </p:sp>
      <p:sp>
        <p:nvSpPr>
          <p:cNvPr id="11" name="Shape 9"/>
          <p:cNvSpPr/>
          <p:nvPr/>
        </p:nvSpPr>
        <p:spPr>
          <a:xfrm>
            <a:off x="3375508" y="2651760"/>
            <a:ext cx="2468880" cy="2377440"/>
          </a:xfrm>
          <a:prstGeom prst="roundRect">
            <a:avLst>
              <a:gd name="adj" fmla="val 3077"/>
            </a:avLst>
          </a:prstGeom>
          <a:solidFill>
            <a:srgbClr val="FFFFFF"/>
          </a:solidFill>
          <a:ln/>
          <a:effectLst>
            <a:outerShdw sx="100000" sy="100000" kx="0" ky="0" algn="bl" rotWithShape="0" blurRad="76200" dist="25400" dir="5400000">
              <a:srgbClr val="1B2A4A">
                <a:alpha val="18000"/>
              </a:srgbClr>
            </a:outerShdw>
          </a:effectLst>
        </p:spPr>
      </p:sp>
      <p:sp>
        <p:nvSpPr>
          <p:cNvPr id="12" name="Shape 10"/>
          <p:cNvSpPr/>
          <p:nvPr/>
        </p:nvSpPr>
        <p:spPr>
          <a:xfrm>
            <a:off x="4244188" y="2331720"/>
            <a:ext cx="731520" cy="731520"/>
          </a:xfrm>
          <a:prstGeom prst="ellipse">
            <a:avLst/>
          </a:prstGeom>
          <a:solidFill>
            <a:srgbClr val="E08E45"/>
          </a:solidFill>
          <a:ln/>
        </p:spPr>
      </p:sp>
      <p:sp>
        <p:nvSpPr>
          <p:cNvPr id="13" name="Text 11"/>
          <p:cNvSpPr/>
          <p:nvPr/>
        </p:nvSpPr>
        <p:spPr>
          <a:xfrm>
            <a:off x="4244188" y="23317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3512668" y="3291840"/>
            <a:ext cx="219456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GAS LEAK</a:t>
            </a:r>
            <a:endParaRPr lang="en-US" sz="1600" dirty="0"/>
          </a:p>
        </p:txBody>
      </p:sp>
      <p:sp>
        <p:nvSpPr>
          <p:cNvPr id="15" name="Text 13"/>
          <p:cNvSpPr/>
          <p:nvPr/>
        </p:nvSpPr>
        <p:spPr>
          <a:xfrm>
            <a:off x="3512668" y="3794760"/>
            <a:ext cx="2194560" cy="45720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MQ2 &gt; threshold</a:t>
            </a:r>
            <a:endParaRPr lang="en-US" sz="1200" dirty="0"/>
          </a:p>
        </p:txBody>
      </p:sp>
      <p:sp>
        <p:nvSpPr>
          <p:cNvPr id="16" name="Shape 14"/>
          <p:cNvSpPr/>
          <p:nvPr/>
        </p:nvSpPr>
        <p:spPr>
          <a:xfrm>
            <a:off x="5890108" y="3566160"/>
            <a:ext cx="411480" cy="320040"/>
          </a:xfrm>
          <a:prstGeom prst="rightArrow">
            <a:avLst/>
          </a:prstGeom>
          <a:solidFill>
            <a:srgbClr val="CADCFC"/>
          </a:solidFill>
          <a:ln/>
        </p:spPr>
      </p:sp>
      <p:sp>
        <p:nvSpPr>
          <p:cNvPr id="17" name="Shape 15"/>
          <p:cNvSpPr/>
          <p:nvPr/>
        </p:nvSpPr>
        <p:spPr>
          <a:xfrm>
            <a:off x="6347308" y="2651760"/>
            <a:ext cx="2468880" cy="2377440"/>
          </a:xfrm>
          <a:prstGeom prst="roundRect">
            <a:avLst>
              <a:gd name="adj" fmla="val 3077"/>
            </a:avLst>
          </a:prstGeom>
          <a:solidFill>
            <a:srgbClr val="FFFFFF"/>
          </a:solidFill>
          <a:ln/>
          <a:effectLst>
            <a:outerShdw sx="100000" sy="100000" kx="0" ky="0" algn="bl" rotWithShape="0" blurRad="76200" dist="25400" dir="5400000">
              <a:srgbClr val="1B2A4A">
                <a:alpha val="18000"/>
              </a:srgbClr>
            </a:outerShdw>
          </a:effectLst>
        </p:spPr>
      </p:sp>
      <p:sp>
        <p:nvSpPr>
          <p:cNvPr id="18" name="Shape 16"/>
          <p:cNvSpPr/>
          <p:nvPr/>
        </p:nvSpPr>
        <p:spPr>
          <a:xfrm>
            <a:off x="7215988" y="2331720"/>
            <a:ext cx="731520" cy="731520"/>
          </a:xfrm>
          <a:prstGeom prst="ellipse">
            <a:avLst/>
          </a:prstGeom>
          <a:solidFill>
            <a:srgbClr val="14213D"/>
          </a:solidFill>
          <a:ln/>
        </p:spPr>
      </p:sp>
      <p:sp>
        <p:nvSpPr>
          <p:cNvPr id="19" name="Text 17"/>
          <p:cNvSpPr/>
          <p:nvPr/>
        </p:nvSpPr>
        <p:spPr>
          <a:xfrm>
            <a:off x="7215988" y="23317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8"/>
          <p:cNvSpPr/>
          <p:nvPr/>
        </p:nvSpPr>
        <p:spPr>
          <a:xfrm>
            <a:off x="6484468" y="3291840"/>
            <a:ext cx="219456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INTRUDER</a:t>
            </a:r>
            <a:endParaRPr lang="en-US" sz="1600" dirty="0"/>
          </a:p>
        </p:txBody>
      </p:sp>
      <p:sp>
        <p:nvSpPr>
          <p:cNvPr id="21" name="Text 19"/>
          <p:cNvSpPr/>
          <p:nvPr/>
        </p:nvSpPr>
        <p:spPr>
          <a:xfrm>
            <a:off x="6484468" y="3794760"/>
            <a:ext cx="2194560" cy="45720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PIR = HIGH</a:t>
            </a:r>
            <a:endParaRPr lang="en-US" sz="1200" dirty="0"/>
          </a:p>
        </p:txBody>
      </p:sp>
      <p:sp>
        <p:nvSpPr>
          <p:cNvPr id="22" name="Shape 20"/>
          <p:cNvSpPr/>
          <p:nvPr/>
        </p:nvSpPr>
        <p:spPr>
          <a:xfrm>
            <a:off x="8861908" y="3566160"/>
            <a:ext cx="411480" cy="320040"/>
          </a:xfrm>
          <a:prstGeom prst="rightArrow">
            <a:avLst/>
          </a:prstGeom>
          <a:solidFill>
            <a:srgbClr val="CADCFC"/>
          </a:solidFill>
          <a:ln/>
        </p:spPr>
      </p:sp>
      <p:sp>
        <p:nvSpPr>
          <p:cNvPr id="23" name="Shape 21"/>
          <p:cNvSpPr/>
          <p:nvPr/>
        </p:nvSpPr>
        <p:spPr>
          <a:xfrm>
            <a:off x="9319108" y="2651760"/>
            <a:ext cx="2468880" cy="2377440"/>
          </a:xfrm>
          <a:prstGeom prst="roundRect">
            <a:avLst>
              <a:gd name="adj" fmla="val 3077"/>
            </a:avLst>
          </a:prstGeom>
          <a:solidFill>
            <a:srgbClr val="FFFFFF"/>
          </a:solidFill>
          <a:ln/>
          <a:effectLst>
            <a:outerShdw sx="100000" sy="100000" kx="0" ky="0" algn="bl" rotWithShape="0" blurRad="76200" dist="25400" dir="5400000">
              <a:srgbClr val="1B2A4A">
                <a:alpha val="18000"/>
              </a:srgbClr>
            </a:outerShdw>
          </a:effectLst>
        </p:spPr>
      </p:sp>
      <p:sp>
        <p:nvSpPr>
          <p:cNvPr id="24" name="Shape 22"/>
          <p:cNvSpPr/>
          <p:nvPr/>
        </p:nvSpPr>
        <p:spPr>
          <a:xfrm>
            <a:off x="10187788" y="2331720"/>
            <a:ext cx="731520" cy="731520"/>
          </a:xfrm>
          <a:prstGeom prst="ellipse">
            <a:avLst/>
          </a:prstGeom>
          <a:solidFill>
            <a:srgbClr val="2A9D8F"/>
          </a:solidFill>
          <a:ln/>
        </p:spPr>
      </p:sp>
      <p:sp>
        <p:nvSpPr>
          <p:cNvPr id="25" name="Text 23"/>
          <p:cNvSpPr/>
          <p:nvPr/>
        </p:nvSpPr>
        <p:spPr>
          <a:xfrm>
            <a:off x="10187788" y="23317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6" name="Text 24"/>
          <p:cNvSpPr/>
          <p:nvPr/>
        </p:nvSpPr>
        <p:spPr>
          <a:xfrm>
            <a:off x="9456268" y="3291840"/>
            <a:ext cx="219456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SAFE</a:t>
            </a:r>
            <a:endParaRPr lang="en-US" sz="1600" dirty="0"/>
          </a:p>
        </p:txBody>
      </p:sp>
      <p:sp>
        <p:nvSpPr>
          <p:cNvPr id="27" name="Text 25"/>
          <p:cNvSpPr/>
          <p:nvPr/>
        </p:nvSpPr>
        <p:spPr>
          <a:xfrm>
            <a:off x="9456268" y="3794760"/>
            <a:ext cx="2194560" cy="45720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No hazard active</a:t>
            </a:r>
            <a:endParaRPr lang="en-US" sz="1200" dirty="0"/>
          </a:p>
        </p:txBody>
      </p:sp>
      <p:sp>
        <p:nvSpPr>
          <p:cNvPr id="28" name="Text 26"/>
          <p:cNvSpPr/>
          <p:nvPr/>
        </p:nvSpPr>
        <p:spPr>
          <a:xfrm>
            <a:off x="548640" y="5486400"/>
            <a:ext cx="10789920" cy="36576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Highest priority checked first  →  falls through to Safe Mode only when nothing else is active</a:t>
            </a:r>
            <a:endParaRPr lang="en-US" sz="1200" dirty="0"/>
          </a:p>
        </p:txBody>
      </p:sp>
      <p:sp>
        <p:nvSpPr>
          <p:cNvPr id="29" name="Text 27"/>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30" name="Text 2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WHERE THIS GOES NEXT</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Cambria" pitchFamily="34" charset="0"/>
                <a:ea typeface="Cambria" pitchFamily="34" charset="-122"/>
                <a:cs typeface="Cambria" pitchFamily="34" charset="-120"/>
              </a:rPr>
              <a:t>From Simulation to Real IoT Deployment</a:t>
            </a:r>
            <a:endParaRPr lang="en-US" sz="3200" dirty="0"/>
          </a:p>
        </p:txBody>
      </p:sp>
      <p:sp>
        <p:nvSpPr>
          <p:cNvPr id="4" name="Text 2"/>
          <p:cNvSpPr/>
          <p:nvPr/>
        </p:nvSpPr>
        <p:spPr>
          <a:xfrm>
            <a:off x="548640" y="1417320"/>
            <a:ext cx="10789920" cy="45720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Swapping the Arduino Uno for an ESP32 adds Wi-Fi and Bluetooth — unlocking a genuinely connected version of this system.</a:t>
            </a:r>
            <a:endParaRPr lang="en-US" sz="1350" dirty="0"/>
          </a:p>
        </p:txBody>
      </p:sp>
      <p:sp>
        <p:nvSpPr>
          <p:cNvPr id="5" name="Shape 3"/>
          <p:cNvSpPr/>
          <p:nvPr/>
        </p:nvSpPr>
        <p:spPr>
          <a:xfrm>
            <a:off x="548640" y="2148840"/>
            <a:ext cx="3611880" cy="1874520"/>
          </a:xfrm>
          <a:prstGeom prst="roundRect">
            <a:avLst>
              <a:gd name="adj" fmla="val 3902"/>
            </a:avLst>
          </a:prstGeom>
          <a:solidFill>
            <a:srgbClr val="FFFFFF"/>
          </a:solidFill>
          <a:ln/>
          <a:effectLst>
            <a:outerShdw sx="100000" sy="100000" kx="0" ky="0" algn="bl" rotWithShape="0" blurRad="76200" dist="25400" dir="5400000">
              <a:srgbClr val="1B2A4A">
                <a:alpha val="18000"/>
              </a:srgbClr>
            </a:outerShdw>
          </a:effectLst>
        </p:spPr>
      </p:sp>
      <p:sp>
        <p:nvSpPr>
          <p:cNvPr id="6" name="Shape 4"/>
          <p:cNvSpPr/>
          <p:nvPr/>
        </p:nvSpPr>
        <p:spPr>
          <a:xfrm>
            <a:off x="804672" y="2404872"/>
            <a:ext cx="457200" cy="457200"/>
          </a:xfrm>
          <a:prstGeom prst="ellipse">
            <a:avLst/>
          </a:prstGeom>
          <a:solidFill>
            <a:srgbClr val="3A86FF"/>
          </a:solidFill>
          <a:ln/>
        </p:spPr>
      </p:sp>
      <p:sp>
        <p:nvSpPr>
          <p:cNvPr id="7" name="Text 5"/>
          <p:cNvSpPr/>
          <p:nvPr/>
        </p:nvSpPr>
        <p:spPr>
          <a:xfrm>
            <a:off x="804672" y="24048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417320" y="2313432"/>
            <a:ext cx="2560320" cy="36576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Mobile Notifications</a:t>
            </a:r>
            <a:endParaRPr lang="en-US" sz="1300" dirty="0"/>
          </a:p>
        </p:txBody>
      </p:sp>
      <p:sp>
        <p:nvSpPr>
          <p:cNvPr id="9" name="Text 7"/>
          <p:cNvSpPr/>
          <p:nvPr/>
        </p:nvSpPr>
        <p:spPr>
          <a:xfrm>
            <a:off x="777240" y="2926080"/>
            <a:ext cx="3154680" cy="1005840"/>
          </a:xfrm>
          <a:prstGeom prst="rect">
            <a:avLst/>
          </a:prstGeom>
          <a:noFill/>
          <a:ln/>
        </p:spPr>
        <p:txBody>
          <a:bodyPr wrap="square" lIns="0" tIns="0" rIns="0" bIns="0" rtlCol="0" anchor="ctr"/>
          <a:lstStyle/>
          <a:p>
            <a:pPr indent="0" marL="0">
              <a:lnSpc>
                <a:spcPct val="125000"/>
              </a:lnSpc>
              <a:buNone/>
            </a:pPr>
            <a:r>
              <a:rPr lang="en-US" sz="1050" dirty="0">
                <a:solidFill>
                  <a:srgbClr val="6B7280"/>
                </a:solidFill>
                <a:latin typeface="Calibri" pitchFamily="34" charset="0"/>
                <a:ea typeface="Calibri" pitchFamily="34" charset="-122"/>
                <a:cs typeface="Calibri" pitchFamily="34" charset="-120"/>
              </a:rPr>
              <a:t>Push alerts to the homeowner's phone the instant a hazard is detected.</a:t>
            </a:r>
            <a:endParaRPr lang="en-US" sz="1050" dirty="0"/>
          </a:p>
        </p:txBody>
      </p:sp>
      <p:sp>
        <p:nvSpPr>
          <p:cNvPr id="10" name="Shape 8"/>
          <p:cNvSpPr/>
          <p:nvPr/>
        </p:nvSpPr>
        <p:spPr>
          <a:xfrm>
            <a:off x="4389120" y="2148840"/>
            <a:ext cx="3611880" cy="1874520"/>
          </a:xfrm>
          <a:prstGeom prst="roundRect">
            <a:avLst>
              <a:gd name="adj" fmla="val 3902"/>
            </a:avLst>
          </a:prstGeom>
          <a:solidFill>
            <a:srgbClr val="FFFFFF"/>
          </a:solidFill>
          <a:ln/>
          <a:effectLst>
            <a:outerShdw sx="100000" sy="100000" kx="0" ky="0" algn="bl" rotWithShape="0" blurRad="76200" dist="25400" dir="5400000">
              <a:srgbClr val="1B2A4A">
                <a:alpha val="18000"/>
              </a:srgbClr>
            </a:outerShdw>
          </a:effectLst>
        </p:spPr>
      </p:sp>
      <p:sp>
        <p:nvSpPr>
          <p:cNvPr id="11" name="Shape 9"/>
          <p:cNvSpPr/>
          <p:nvPr/>
        </p:nvSpPr>
        <p:spPr>
          <a:xfrm>
            <a:off x="4645152" y="2404872"/>
            <a:ext cx="457200" cy="457200"/>
          </a:xfrm>
          <a:prstGeom prst="ellipse">
            <a:avLst/>
          </a:prstGeom>
          <a:solidFill>
            <a:srgbClr val="3A86FF"/>
          </a:solidFill>
          <a:ln/>
        </p:spPr>
      </p:sp>
      <p:sp>
        <p:nvSpPr>
          <p:cNvPr id="12" name="Text 10"/>
          <p:cNvSpPr/>
          <p:nvPr/>
        </p:nvSpPr>
        <p:spPr>
          <a:xfrm>
            <a:off x="4645152" y="24048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257800" y="2313432"/>
            <a:ext cx="2560320" cy="36576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Cloud Event Logging</a:t>
            </a:r>
            <a:endParaRPr lang="en-US" sz="1300" dirty="0"/>
          </a:p>
        </p:txBody>
      </p:sp>
      <p:sp>
        <p:nvSpPr>
          <p:cNvPr id="14" name="Text 12"/>
          <p:cNvSpPr/>
          <p:nvPr/>
        </p:nvSpPr>
        <p:spPr>
          <a:xfrm>
            <a:off x="4617720" y="2926080"/>
            <a:ext cx="3154680" cy="1005840"/>
          </a:xfrm>
          <a:prstGeom prst="rect">
            <a:avLst/>
          </a:prstGeom>
          <a:noFill/>
          <a:ln/>
        </p:spPr>
        <p:txBody>
          <a:bodyPr wrap="square" lIns="0" tIns="0" rIns="0" bIns="0" rtlCol="0" anchor="ctr"/>
          <a:lstStyle/>
          <a:p>
            <a:pPr indent="0" marL="0">
              <a:lnSpc>
                <a:spcPct val="125000"/>
              </a:lnSpc>
              <a:buNone/>
            </a:pPr>
            <a:r>
              <a:rPr lang="en-US" sz="1050" dirty="0">
                <a:solidFill>
                  <a:srgbClr val="6B7280"/>
                </a:solidFill>
                <a:latin typeface="Calibri" pitchFamily="34" charset="0"/>
                <a:ea typeface="Calibri" pitchFamily="34" charset="-122"/>
                <a:cs typeface="Calibri" pitchFamily="34" charset="-120"/>
              </a:rPr>
              <a:t>Every alert timestamped and stored for later review or insurance records.</a:t>
            </a:r>
            <a:endParaRPr lang="en-US" sz="1050" dirty="0"/>
          </a:p>
        </p:txBody>
      </p:sp>
      <p:sp>
        <p:nvSpPr>
          <p:cNvPr id="15" name="Shape 13"/>
          <p:cNvSpPr/>
          <p:nvPr/>
        </p:nvSpPr>
        <p:spPr>
          <a:xfrm>
            <a:off x="8229600" y="2148840"/>
            <a:ext cx="3611880" cy="1874520"/>
          </a:xfrm>
          <a:prstGeom prst="roundRect">
            <a:avLst>
              <a:gd name="adj" fmla="val 3902"/>
            </a:avLst>
          </a:prstGeom>
          <a:solidFill>
            <a:srgbClr val="FFFFFF"/>
          </a:solidFill>
          <a:ln/>
          <a:effectLst>
            <a:outerShdw sx="100000" sy="100000" kx="0" ky="0" algn="bl" rotWithShape="0" blurRad="76200" dist="25400" dir="5400000">
              <a:srgbClr val="1B2A4A">
                <a:alpha val="18000"/>
              </a:srgbClr>
            </a:outerShdw>
          </a:effectLst>
        </p:spPr>
      </p:sp>
      <p:sp>
        <p:nvSpPr>
          <p:cNvPr id="16" name="Shape 14"/>
          <p:cNvSpPr/>
          <p:nvPr/>
        </p:nvSpPr>
        <p:spPr>
          <a:xfrm>
            <a:off x="8485632" y="2404872"/>
            <a:ext cx="457200" cy="457200"/>
          </a:xfrm>
          <a:prstGeom prst="ellipse">
            <a:avLst/>
          </a:prstGeom>
          <a:solidFill>
            <a:srgbClr val="3A86FF"/>
          </a:solidFill>
          <a:ln/>
        </p:spPr>
      </p:sp>
      <p:sp>
        <p:nvSpPr>
          <p:cNvPr id="17" name="Text 15"/>
          <p:cNvSpPr/>
          <p:nvPr/>
        </p:nvSpPr>
        <p:spPr>
          <a:xfrm>
            <a:off x="8485632" y="24048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9098280" y="2313432"/>
            <a:ext cx="2560320" cy="36576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CCTV Activation</a:t>
            </a:r>
            <a:endParaRPr lang="en-US" sz="1300" dirty="0"/>
          </a:p>
        </p:txBody>
      </p:sp>
      <p:sp>
        <p:nvSpPr>
          <p:cNvPr id="19" name="Text 17"/>
          <p:cNvSpPr/>
          <p:nvPr/>
        </p:nvSpPr>
        <p:spPr>
          <a:xfrm>
            <a:off x="8458200" y="2926080"/>
            <a:ext cx="3154680" cy="1005840"/>
          </a:xfrm>
          <a:prstGeom prst="rect">
            <a:avLst/>
          </a:prstGeom>
          <a:noFill/>
          <a:ln/>
        </p:spPr>
        <p:txBody>
          <a:bodyPr wrap="square" lIns="0" tIns="0" rIns="0" bIns="0" rtlCol="0" anchor="ctr"/>
          <a:lstStyle/>
          <a:p>
            <a:pPr indent="0" marL="0">
              <a:lnSpc>
                <a:spcPct val="125000"/>
              </a:lnSpc>
              <a:buNone/>
            </a:pPr>
            <a:r>
              <a:rPr lang="en-US" sz="1050" dirty="0">
                <a:solidFill>
                  <a:srgbClr val="6B7280"/>
                </a:solidFill>
                <a:latin typeface="Calibri" pitchFamily="34" charset="0"/>
                <a:ea typeface="Calibri" pitchFamily="34" charset="-122"/>
                <a:cs typeface="Calibri" pitchFamily="34" charset="-120"/>
              </a:rPr>
              <a:t>Trigger a camera feed automatically during an intrusion event.</a:t>
            </a:r>
            <a:endParaRPr lang="en-US" sz="1050" dirty="0"/>
          </a:p>
        </p:txBody>
      </p:sp>
      <p:sp>
        <p:nvSpPr>
          <p:cNvPr id="20" name="Shape 18"/>
          <p:cNvSpPr/>
          <p:nvPr/>
        </p:nvSpPr>
        <p:spPr>
          <a:xfrm>
            <a:off x="548640" y="4251960"/>
            <a:ext cx="3611880" cy="1874520"/>
          </a:xfrm>
          <a:prstGeom prst="roundRect">
            <a:avLst>
              <a:gd name="adj" fmla="val 3902"/>
            </a:avLst>
          </a:prstGeom>
          <a:solidFill>
            <a:srgbClr val="FFFFFF"/>
          </a:solidFill>
          <a:ln/>
          <a:effectLst>
            <a:outerShdw sx="100000" sy="100000" kx="0" ky="0" algn="bl" rotWithShape="0" blurRad="76200" dist="25400" dir="5400000">
              <a:srgbClr val="1B2A4A">
                <a:alpha val="18000"/>
              </a:srgbClr>
            </a:outerShdw>
          </a:effectLst>
        </p:spPr>
      </p:sp>
      <p:sp>
        <p:nvSpPr>
          <p:cNvPr id="21" name="Shape 19"/>
          <p:cNvSpPr/>
          <p:nvPr/>
        </p:nvSpPr>
        <p:spPr>
          <a:xfrm>
            <a:off x="804672" y="4507992"/>
            <a:ext cx="457200" cy="457200"/>
          </a:xfrm>
          <a:prstGeom prst="ellipse">
            <a:avLst/>
          </a:prstGeom>
          <a:solidFill>
            <a:srgbClr val="3A86FF"/>
          </a:solidFill>
          <a:ln/>
        </p:spPr>
      </p:sp>
      <p:sp>
        <p:nvSpPr>
          <p:cNvPr id="22" name="Text 20"/>
          <p:cNvSpPr/>
          <p:nvPr/>
        </p:nvSpPr>
        <p:spPr>
          <a:xfrm>
            <a:off x="804672" y="45079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417320" y="4416552"/>
            <a:ext cx="2560320" cy="36576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Live Remote Monitoring</a:t>
            </a:r>
            <a:endParaRPr lang="en-US" sz="1300" dirty="0"/>
          </a:p>
        </p:txBody>
      </p:sp>
      <p:sp>
        <p:nvSpPr>
          <p:cNvPr id="24" name="Text 22"/>
          <p:cNvSpPr/>
          <p:nvPr/>
        </p:nvSpPr>
        <p:spPr>
          <a:xfrm>
            <a:off x="777240" y="5029200"/>
            <a:ext cx="3154680" cy="1005840"/>
          </a:xfrm>
          <a:prstGeom prst="rect">
            <a:avLst/>
          </a:prstGeom>
          <a:noFill/>
          <a:ln/>
        </p:spPr>
        <p:txBody>
          <a:bodyPr wrap="square" lIns="0" tIns="0" rIns="0" bIns="0" rtlCol="0" anchor="ctr"/>
          <a:lstStyle/>
          <a:p>
            <a:pPr indent="0" marL="0">
              <a:lnSpc>
                <a:spcPct val="125000"/>
              </a:lnSpc>
              <a:buNone/>
            </a:pPr>
            <a:r>
              <a:rPr lang="en-US" sz="1050" dirty="0">
                <a:solidFill>
                  <a:srgbClr val="6B7280"/>
                </a:solidFill>
                <a:latin typeface="Calibri" pitchFamily="34" charset="0"/>
                <a:ea typeface="Calibri" pitchFamily="34" charset="-122"/>
                <a:cs typeface="Calibri" pitchFamily="34" charset="-120"/>
              </a:rPr>
              <a:t>Check sensor status and camera feeds from anywhere with internet access.</a:t>
            </a:r>
            <a:endParaRPr lang="en-US" sz="1050" dirty="0"/>
          </a:p>
        </p:txBody>
      </p:sp>
      <p:sp>
        <p:nvSpPr>
          <p:cNvPr id="25" name="Shape 23"/>
          <p:cNvSpPr/>
          <p:nvPr/>
        </p:nvSpPr>
        <p:spPr>
          <a:xfrm>
            <a:off x="4389120" y="4251960"/>
            <a:ext cx="3611880" cy="1874520"/>
          </a:xfrm>
          <a:prstGeom prst="roundRect">
            <a:avLst>
              <a:gd name="adj" fmla="val 3902"/>
            </a:avLst>
          </a:prstGeom>
          <a:solidFill>
            <a:srgbClr val="FFFFFF"/>
          </a:solidFill>
          <a:ln/>
          <a:effectLst>
            <a:outerShdw sx="100000" sy="100000" kx="0" ky="0" algn="bl" rotWithShape="0" blurRad="76200" dist="25400" dir="5400000">
              <a:srgbClr val="1B2A4A">
                <a:alpha val="18000"/>
              </a:srgbClr>
            </a:outerShdw>
          </a:effectLst>
        </p:spPr>
      </p:sp>
      <p:sp>
        <p:nvSpPr>
          <p:cNvPr id="26" name="Shape 24"/>
          <p:cNvSpPr/>
          <p:nvPr/>
        </p:nvSpPr>
        <p:spPr>
          <a:xfrm>
            <a:off x="4645152" y="4507992"/>
            <a:ext cx="457200" cy="457200"/>
          </a:xfrm>
          <a:prstGeom prst="ellipse">
            <a:avLst/>
          </a:prstGeom>
          <a:solidFill>
            <a:srgbClr val="3A86FF"/>
          </a:solidFill>
          <a:ln/>
        </p:spPr>
      </p:sp>
      <p:sp>
        <p:nvSpPr>
          <p:cNvPr id="27" name="Text 25"/>
          <p:cNvSpPr/>
          <p:nvPr/>
        </p:nvSpPr>
        <p:spPr>
          <a:xfrm>
            <a:off x="4645152" y="45079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5257800" y="4416552"/>
            <a:ext cx="2560320" cy="36576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Remote Arm / Disarm</a:t>
            </a:r>
            <a:endParaRPr lang="en-US" sz="1300" dirty="0"/>
          </a:p>
        </p:txBody>
      </p:sp>
      <p:sp>
        <p:nvSpPr>
          <p:cNvPr id="29" name="Text 27"/>
          <p:cNvSpPr/>
          <p:nvPr/>
        </p:nvSpPr>
        <p:spPr>
          <a:xfrm>
            <a:off x="4617720" y="5029200"/>
            <a:ext cx="3154680" cy="1005840"/>
          </a:xfrm>
          <a:prstGeom prst="rect">
            <a:avLst/>
          </a:prstGeom>
          <a:noFill/>
          <a:ln/>
        </p:spPr>
        <p:txBody>
          <a:bodyPr wrap="square" lIns="0" tIns="0" rIns="0" bIns="0" rtlCol="0" anchor="ctr"/>
          <a:lstStyle/>
          <a:p>
            <a:pPr indent="0" marL="0">
              <a:lnSpc>
                <a:spcPct val="125000"/>
              </a:lnSpc>
              <a:buNone/>
            </a:pPr>
            <a:r>
              <a:rPr lang="en-US" sz="1050" dirty="0">
                <a:solidFill>
                  <a:srgbClr val="6B7280"/>
                </a:solidFill>
                <a:latin typeface="Calibri" pitchFamily="34" charset="0"/>
                <a:ea typeface="Calibri" pitchFamily="34" charset="-122"/>
                <a:cs typeface="Calibri" pitchFamily="34" charset="-120"/>
              </a:rPr>
              <a:t>Turn the system on or off from a mobile app, no physical access needed.</a:t>
            </a:r>
            <a:endParaRPr lang="en-US" sz="1050" dirty="0"/>
          </a:p>
        </p:txBody>
      </p:sp>
      <p:sp>
        <p:nvSpPr>
          <p:cNvPr id="30" name="Shape 28"/>
          <p:cNvSpPr/>
          <p:nvPr/>
        </p:nvSpPr>
        <p:spPr>
          <a:xfrm>
            <a:off x="8229600" y="4251960"/>
            <a:ext cx="3611880" cy="1874520"/>
          </a:xfrm>
          <a:prstGeom prst="roundRect">
            <a:avLst>
              <a:gd name="adj" fmla="val 3902"/>
            </a:avLst>
          </a:prstGeom>
          <a:solidFill>
            <a:srgbClr val="FFFFFF"/>
          </a:solidFill>
          <a:ln/>
          <a:effectLst>
            <a:outerShdw sx="100000" sy="100000" kx="0" ky="0" algn="bl" rotWithShape="0" blurRad="76200" dist="25400" dir="5400000">
              <a:srgbClr val="1B2A4A">
                <a:alpha val="18000"/>
              </a:srgbClr>
            </a:outerShdw>
          </a:effectLst>
        </p:spPr>
      </p:sp>
      <p:sp>
        <p:nvSpPr>
          <p:cNvPr id="31" name="Shape 29"/>
          <p:cNvSpPr/>
          <p:nvPr/>
        </p:nvSpPr>
        <p:spPr>
          <a:xfrm>
            <a:off x="8485632" y="4507992"/>
            <a:ext cx="457200" cy="457200"/>
          </a:xfrm>
          <a:prstGeom prst="ellipse">
            <a:avLst/>
          </a:prstGeom>
          <a:solidFill>
            <a:srgbClr val="3A86FF"/>
          </a:solidFill>
          <a:ln/>
        </p:spPr>
      </p:sp>
      <p:sp>
        <p:nvSpPr>
          <p:cNvPr id="32" name="Text 30"/>
          <p:cNvSpPr/>
          <p:nvPr/>
        </p:nvSpPr>
        <p:spPr>
          <a:xfrm>
            <a:off x="8485632" y="45079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9098280" y="4416552"/>
            <a:ext cx="2560320" cy="36576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Real-Time Dashboard</a:t>
            </a:r>
            <a:endParaRPr lang="en-US" sz="1300" dirty="0"/>
          </a:p>
        </p:txBody>
      </p:sp>
      <p:sp>
        <p:nvSpPr>
          <p:cNvPr id="34" name="Text 32"/>
          <p:cNvSpPr/>
          <p:nvPr/>
        </p:nvSpPr>
        <p:spPr>
          <a:xfrm>
            <a:off x="8458200" y="5029200"/>
            <a:ext cx="3154680" cy="1005840"/>
          </a:xfrm>
          <a:prstGeom prst="rect">
            <a:avLst/>
          </a:prstGeom>
          <a:noFill/>
          <a:ln/>
        </p:spPr>
        <p:txBody>
          <a:bodyPr wrap="square" lIns="0" tIns="0" rIns="0" bIns="0" rtlCol="0" anchor="ctr"/>
          <a:lstStyle/>
          <a:p>
            <a:pPr indent="0" marL="0">
              <a:lnSpc>
                <a:spcPct val="125000"/>
              </a:lnSpc>
              <a:buNone/>
            </a:pPr>
            <a:r>
              <a:rPr lang="en-US" sz="1050" dirty="0">
                <a:solidFill>
                  <a:srgbClr val="6B7280"/>
                </a:solidFill>
                <a:latin typeface="Calibri" pitchFamily="34" charset="0"/>
                <a:ea typeface="Calibri" pitchFamily="34" charset="-122"/>
                <a:cs typeface="Calibri" pitchFamily="34" charset="-120"/>
              </a:rPr>
              <a:t>A live web view of every sensor reading, not just the current LCD message.</a:t>
            </a:r>
            <a:endParaRPr lang="en-US" sz="1050" dirty="0"/>
          </a:p>
        </p:txBody>
      </p:sp>
      <p:sp>
        <p:nvSpPr>
          <p:cNvPr id="35" name="Text 33"/>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36" name="Text 34"/>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526"/>
        </a:solidFill>
      </p:bgPr>
    </p:bg>
    <p:spTree>
      <p:nvGrpSpPr>
        <p:cNvPr id="1" name=""/>
        <p:cNvGrpSpPr/>
        <p:nvPr/>
      </p:nvGrpSpPr>
      <p:grpSpPr>
        <a:xfrm>
          <a:off x="0" y="0"/>
          <a:ext cx="0" cy="0"/>
          <a:chOff x="0" y="0"/>
          <a:chExt cx="0" cy="0"/>
        </a:xfrm>
      </p:grpSpPr>
      <p:sp>
        <p:nvSpPr>
          <p:cNvPr id="2" name="Shape 0"/>
          <p:cNvSpPr/>
          <p:nvPr/>
        </p:nvSpPr>
        <p:spPr>
          <a:xfrm>
            <a:off x="-2011680" y="3840480"/>
            <a:ext cx="5486400" cy="5486400"/>
          </a:xfrm>
          <a:prstGeom prst="ellipse">
            <a:avLst/>
          </a:prstGeom>
          <a:solidFill>
            <a:srgbClr val="12213D"/>
          </a:solidFill>
          <a:ln/>
        </p:spPr>
      </p:sp>
      <p:sp>
        <p:nvSpPr>
          <p:cNvPr id="3" name="Text 1"/>
          <p:cNvSpPr/>
          <p:nvPr/>
        </p:nvSpPr>
        <p:spPr>
          <a:xfrm>
            <a:off x="548640" y="384048"/>
            <a:ext cx="8229600" cy="320040"/>
          </a:xfrm>
          <a:prstGeom prst="rect">
            <a:avLst/>
          </a:prstGeom>
          <a:noFill/>
          <a:ln/>
        </p:spPr>
        <p:txBody>
          <a:bodyPr wrap="square" lIns="0" tIns="0" rIns="0" bIns="0" rtlCol="0" anchor="ctr"/>
          <a:lstStyle/>
          <a:p>
            <a:pPr algn="l" indent="0" marL="0">
              <a:buNone/>
            </a:pPr>
            <a:r>
              <a:rPr lang="en-US" sz="1300" b="1" spc="200" kern="0" dirty="0">
                <a:solidFill>
                  <a:srgbClr val="3A86FF"/>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48640" y="73152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Small Circuit, Real-World Stakes</a:t>
            </a:r>
            <a:endParaRPr lang="en-US" sz="3200" dirty="0"/>
          </a:p>
        </p:txBody>
      </p:sp>
      <p:sp>
        <p:nvSpPr>
          <p:cNvPr id="5" name="Text 3"/>
          <p:cNvSpPr/>
          <p:nvPr/>
        </p:nvSpPr>
        <p:spPr>
          <a:xfrm>
            <a:off x="548640" y="1691640"/>
            <a:ext cx="6583680" cy="2377440"/>
          </a:xfrm>
          <a:prstGeom prst="rect">
            <a:avLst/>
          </a:prstGeom>
          <a:noFill/>
          <a:ln/>
        </p:spPr>
        <p:txBody>
          <a:bodyPr wrap="square" lIns="0" tIns="0" rIns="0" bIns="0" rtlCol="0" anchor="ctr"/>
          <a:lstStyle/>
          <a:p>
            <a:pPr indent="0" marL="0">
              <a:lnSpc>
                <a:spcPct val="140000"/>
              </a:lnSpc>
              <a:buNone/>
            </a:pPr>
            <a:r>
              <a:rPr lang="en-US" sz="1500" dirty="0">
                <a:solidFill>
                  <a:srgbClr val="CADCFC"/>
                </a:solidFill>
                <a:latin typeface="Calibri" pitchFamily="34" charset="0"/>
                <a:ea typeface="Calibri" pitchFamily="34" charset="-122"/>
                <a:cs typeface="Calibri" pitchFamily="34" charset="-120"/>
              </a:rPr>
              <a:t>This project shows that the same sensing-and-response principle behind proven, life-saving technology — working smoke alarms, monitored gas detectors, and visible security systems — can be built, tested, and understood on a student budget. The Arduino doesn't just detect a hazard; it acts on it immediately, closing the gap between alarm and response that costs lives in the real world.</a:t>
            </a:r>
            <a:endParaRPr lang="en-US" sz="1500" dirty="0"/>
          </a:p>
        </p:txBody>
      </p:sp>
      <p:sp>
        <p:nvSpPr>
          <p:cNvPr id="6" name="Text 4"/>
          <p:cNvSpPr/>
          <p:nvPr/>
        </p:nvSpPr>
        <p:spPr>
          <a:xfrm>
            <a:off x="548640" y="4297680"/>
            <a:ext cx="1280160" cy="548640"/>
          </a:xfrm>
          <a:prstGeom prst="rect">
            <a:avLst/>
          </a:prstGeom>
          <a:noFill/>
          <a:ln/>
        </p:spPr>
        <p:txBody>
          <a:bodyPr wrap="square" lIns="0" tIns="0" rIns="0" bIns="0" rtlCol="0" anchor="ctr"/>
          <a:lstStyle/>
          <a:p>
            <a:pPr indent="0" marL="0">
              <a:buNone/>
            </a:pPr>
            <a:r>
              <a:rPr lang="en-US" sz="2400" b="1" dirty="0">
                <a:solidFill>
                  <a:srgbClr val="E63946"/>
                </a:solidFill>
                <a:latin typeface="Cambria" pitchFamily="34" charset="0"/>
                <a:ea typeface="Cambria" pitchFamily="34" charset="-122"/>
                <a:cs typeface="Cambria" pitchFamily="34" charset="-120"/>
              </a:rPr>
              <a:t>60%</a:t>
            </a:r>
            <a:endParaRPr lang="en-US" sz="2400" dirty="0"/>
          </a:p>
        </p:txBody>
      </p:sp>
      <p:sp>
        <p:nvSpPr>
          <p:cNvPr id="7" name="Text 5"/>
          <p:cNvSpPr/>
          <p:nvPr/>
        </p:nvSpPr>
        <p:spPr>
          <a:xfrm>
            <a:off x="1874520" y="4370832"/>
            <a:ext cx="5029200"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lower fire death risk with a working alarm</a:t>
            </a:r>
            <a:endParaRPr lang="en-US" sz="1200" dirty="0"/>
          </a:p>
        </p:txBody>
      </p:sp>
      <p:sp>
        <p:nvSpPr>
          <p:cNvPr id="8" name="Text 6"/>
          <p:cNvSpPr/>
          <p:nvPr/>
        </p:nvSpPr>
        <p:spPr>
          <a:xfrm>
            <a:off x="548640" y="4956048"/>
            <a:ext cx="1280160" cy="548640"/>
          </a:xfrm>
          <a:prstGeom prst="rect">
            <a:avLst/>
          </a:prstGeom>
          <a:noFill/>
          <a:ln/>
        </p:spPr>
        <p:txBody>
          <a:bodyPr wrap="square" lIns="0" tIns="0" rIns="0" bIns="0" rtlCol="0" anchor="ctr"/>
          <a:lstStyle/>
          <a:p>
            <a:pPr indent="0" marL="0">
              <a:buNone/>
            </a:pPr>
            <a:r>
              <a:rPr lang="en-US" sz="2400" b="1" dirty="0">
                <a:solidFill>
                  <a:srgbClr val="3A86FF"/>
                </a:solidFill>
                <a:latin typeface="Cambria" pitchFamily="34" charset="0"/>
                <a:ea typeface="Cambria" pitchFamily="34" charset="-122"/>
                <a:cs typeface="Cambria" pitchFamily="34" charset="-120"/>
              </a:rPr>
              <a:t>83%</a:t>
            </a:r>
            <a:endParaRPr lang="en-US" sz="2400" dirty="0"/>
          </a:p>
        </p:txBody>
      </p:sp>
      <p:sp>
        <p:nvSpPr>
          <p:cNvPr id="9" name="Text 7"/>
          <p:cNvSpPr/>
          <p:nvPr/>
        </p:nvSpPr>
        <p:spPr>
          <a:xfrm>
            <a:off x="1874520" y="5029200"/>
            <a:ext cx="5029200"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of burglars avoid homes with visible alarms</a:t>
            </a:r>
            <a:endParaRPr lang="en-US" sz="1200" dirty="0"/>
          </a:p>
        </p:txBody>
      </p:sp>
      <p:sp>
        <p:nvSpPr>
          <p:cNvPr id="10" name="Text 8"/>
          <p:cNvSpPr/>
          <p:nvPr/>
        </p:nvSpPr>
        <p:spPr>
          <a:xfrm>
            <a:off x="548640" y="5614416"/>
            <a:ext cx="1280160" cy="548640"/>
          </a:xfrm>
          <a:prstGeom prst="rect">
            <a:avLst/>
          </a:prstGeom>
          <a:noFill/>
          <a:ln/>
        </p:spPr>
        <p:txBody>
          <a:bodyPr wrap="square" lIns="0" tIns="0" rIns="0" bIns="0" rtlCol="0" anchor="ctr"/>
          <a:lstStyle/>
          <a:p>
            <a:pPr indent="0" marL="0">
              <a:buNone/>
            </a:pPr>
            <a:r>
              <a:rPr lang="en-US" sz="2400" b="1" dirty="0">
                <a:solidFill>
                  <a:srgbClr val="E08E45"/>
                </a:solidFill>
                <a:latin typeface="Cambria" pitchFamily="34" charset="0"/>
                <a:ea typeface="Cambria" pitchFamily="34" charset="-122"/>
                <a:cs typeface="Cambria" pitchFamily="34" charset="-120"/>
              </a:rPr>
              <a:t>400+</a:t>
            </a:r>
            <a:endParaRPr lang="en-US" sz="2400" dirty="0"/>
          </a:p>
        </p:txBody>
      </p:sp>
      <p:sp>
        <p:nvSpPr>
          <p:cNvPr id="11" name="Text 9"/>
          <p:cNvSpPr/>
          <p:nvPr/>
        </p:nvSpPr>
        <p:spPr>
          <a:xfrm>
            <a:off x="1874520" y="5687568"/>
            <a:ext cx="5029200"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annual U.S. CO deaths a gas sensor can help prevent</a:t>
            </a:r>
            <a:endParaRPr lang="en-US" sz="1200" dirty="0"/>
          </a:p>
        </p:txBody>
      </p:sp>
      <p:sp>
        <p:nvSpPr>
          <p:cNvPr id="12" name="Shape 10"/>
          <p:cNvSpPr/>
          <p:nvPr/>
        </p:nvSpPr>
        <p:spPr>
          <a:xfrm>
            <a:off x="7589520" y="1691640"/>
            <a:ext cx="4023360" cy="4480560"/>
          </a:xfrm>
          <a:prstGeom prst="roundRect">
            <a:avLst>
              <a:gd name="adj" fmla="val 1818"/>
            </a:avLst>
          </a:prstGeom>
          <a:solidFill>
            <a:srgbClr val="12213D"/>
          </a:solidFill>
          <a:ln/>
          <a:effectLst>
            <a:outerShdw sx="100000" sy="100000" kx="0" ky="0" algn="bl" rotWithShape="0" blurRad="76200" dist="25400" dir="5400000">
              <a:srgbClr val="1B2A4A">
                <a:alpha val="18000"/>
              </a:srgbClr>
            </a:outerShdw>
          </a:effectLst>
        </p:spPr>
      </p:sp>
      <p:sp>
        <p:nvSpPr>
          <p:cNvPr id="13" name="Text 11"/>
          <p:cNvSpPr/>
          <p:nvPr/>
        </p:nvSpPr>
        <p:spPr>
          <a:xfrm>
            <a:off x="7589520" y="1920240"/>
            <a:ext cx="4023360" cy="320040"/>
          </a:xfrm>
          <a:prstGeom prst="rect">
            <a:avLst/>
          </a:prstGeom>
          <a:noFill/>
          <a:ln/>
        </p:spPr>
        <p:txBody>
          <a:bodyPr wrap="square" lIns="0" tIns="0" rIns="0" bIns="0" rtlCol="0" anchor="ctr"/>
          <a:lstStyle/>
          <a:p>
            <a:pPr algn="ctr" indent="0" marL="0">
              <a:buNone/>
            </a:pPr>
            <a:r>
              <a:rPr lang="en-US" sz="1200" b="1" spc="200" kern="0" dirty="0">
                <a:solidFill>
                  <a:srgbClr val="3A86FF"/>
                </a:solidFill>
                <a:latin typeface="Calibri" pitchFamily="34" charset="0"/>
                <a:ea typeface="Calibri" pitchFamily="34" charset="-122"/>
                <a:cs typeface="Calibri" pitchFamily="34" charset="-120"/>
              </a:rPr>
              <a:t>PROJECT AT A GLANCE</a:t>
            </a:r>
            <a:endParaRPr lang="en-US" sz="1200" dirty="0"/>
          </a:p>
        </p:txBody>
      </p:sp>
      <p:sp>
        <p:nvSpPr>
          <p:cNvPr id="14" name="Shape 12"/>
          <p:cNvSpPr/>
          <p:nvPr/>
        </p:nvSpPr>
        <p:spPr>
          <a:xfrm>
            <a:off x="7909560" y="2496312"/>
            <a:ext cx="109728" cy="109728"/>
          </a:xfrm>
          <a:prstGeom prst="ellipse">
            <a:avLst/>
          </a:prstGeom>
          <a:solidFill>
            <a:srgbClr val="FFFFFF"/>
          </a:solidFill>
          <a:ln/>
        </p:spPr>
      </p:sp>
      <p:sp>
        <p:nvSpPr>
          <p:cNvPr id="15" name="Text 13"/>
          <p:cNvSpPr/>
          <p:nvPr/>
        </p:nvSpPr>
        <p:spPr>
          <a:xfrm>
            <a:off x="8183880" y="2350008"/>
            <a:ext cx="329184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hazards monitored</a:t>
            </a:r>
            <a:endParaRPr lang="en-US" sz="1300" dirty="0"/>
          </a:p>
        </p:txBody>
      </p:sp>
      <p:sp>
        <p:nvSpPr>
          <p:cNvPr id="16" name="Shape 14"/>
          <p:cNvSpPr/>
          <p:nvPr/>
        </p:nvSpPr>
        <p:spPr>
          <a:xfrm>
            <a:off x="7909560" y="3182112"/>
            <a:ext cx="109728" cy="109728"/>
          </a:xfrm>
          <a:prstGeom prst="ellipse">
            <a:avLst/>
          </a:prstGeom>
          <a:solidFill>
            <a:srgbClr val="FFFFFF"/>
          </a:solidFill>
          <a:ln/>
        </p:spPr>
      </p:sp>
      <p:sp>
        <p:nvSpPr>
          <p:cNvPr id="17" name="Text 15"/>
          <p:cNvSpPr/>
          <p:nvPr/>
        </p:nvSpPr>
        <p:spPr>
          <a:xfrm>
            <a:off x="8183880" y="3035808"/>
            <a:ext cx="329184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sensors &amp; actuators</a:t>
            </a:r>
            <a:endParaRPr lang="en-US" sz="1300" dirty="0"/>
          </a:p>
        </p:txBody>
      </p:sp>
      <p:sp>
        <p:nvSpPr>
          <p:cNvPr id="18" name="Shape 16"/>
          <p:cNvSpPr/>
          <p:nvPr/>
        </p:nvSpPr>
        <p:spPr>
          <a:xfrm>
            <a:off x="7909560" y="3867912"/>
            <a:ext cx="109728" cy="109728"/>
          </a:xfrm>
          <a:prstGeom prst="ellipse">
            <a:avLst/>
          </a:prstGeom>
          <a:solidFill>
            <a:srgbClr val="FFFFFF"/>
          </a:solidFill>
          <a:ln/>
        </p:spPr>
      </p:sp>
      <p:sp>
        <p:nvSpPr>
          <p:cNvPr id="19" name="Text 17"/>
          <p:cNvSpPr/>
          <p:nvPr/>
        </p:nvSpPr>
        <p:spPr>
          <a:xfrm>
            <a:off x="8183880" y="3721608"/>
            <a:ext cx="329184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automated servo responses</a:t>
            </a:r>
            <a:endParaRPr lang="en-US" sz="1300" dirty="0"/>
          </a:p>
        </p:txBody>
      </p:sp>
      <p:sp>
        <p:nvSpPr>
          <p:cNvPr id="20" name="Shape 18"/>
          <p:cNvSpPr/>
          <p:nvPr/>
        </p:nvSpPr>
        <p:spPr>
          <a:xfrm>
            <a:off x="7909560" y="4553712"/>
            <a:ext cx="109728" cy="109728"/>
          </a:xfrm>
          <a:prstGeom prst="ellipse">
            <a:avLst/>
          </a:prstGeom>
          <a:solidFill>
            <a:srgbClr val="FFFFFF"/>
          </a:solidFill>
          <a:ln/>
        </p:spPr>
      </p:sp>
      <p:sp>
        <p:nvSpPr>
          <p:cNvPr id="21" name="Text 19"/>
          <p:cNvSpPr/>
          <p:nvPr/>
        </p:nvSpPr>
        <p:spPr>
          <a:xfrm>
            <a:off x="8183880" y="4407408"/>
            <a:ext cx="329184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unified LCD status display</a:t>
            </a:r>
            <a:endParaRPr lang="en-US" sz="1300" dirty="0"/>
          </a:p>
        </p:txBody>
      </p:sp>
      <p:sp>
        <p:nvSpPr>
          <p:cNvPr id="22" name="Shape 20"/>
          <p:cNvSpPr/>
          <p:nvPr/>
        </p:nvSpPr>
        <p:spPr>
          <a:xfrm>
            <a:off x="7909560" y="5239512"/>
            <a:ext cx="109728" cy="109728"/>
          </a:xfrm>
          <a:prstGeom prst="ellipse">
            <a:avLst/>
          </a:prstGeom>
          <a:solidFill>
            <a:srgbClr val="FFFFFF"/>
          </a:solidFill>
          <a:ln/>
        </p:spPr>
      </p:sp>
      <p:sp>
        <p:nvSpPr>
          <p:cNvPr id="23" name="Text 21"/>
          <p:cNvSpPr/>
          <p:nvPr/>
        </p:nvSpPr>
        <p:spPr>
          <a:xfrm>
            <a:off x="8183880" y="5093208"/>
            <a:ext cx="329184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1-button manual reset</a:t>
            </a:r>
            <a:endParaRPr lang="en-US" sz="1300" dirty="0"/>
          </a:p>
        </p:txBody>
      </p:sp>
      <p:sp>
        <p:nvSpPr>
          <p:cNvPr id="24" name="Text 22"/>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REELESH GANESH BHOYRUB   |   COHORT IoT 7</a:t>
            </a:r>
            <a:endParaRPr lang="en-US" sz="900" dirty="0"/>
          </a:p>
        </p:txBody>
      </p:sp>
      <p:sp>
        <p:nvSpPr>
          <p:cNvPr id="25" name="Text 23"/>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526"/>
        </a:solidFill>
      </p:bgPr>
    </p:bg>
    <p:spTree>
      <p:nvGrpSpPr>
        <p:cNvPr id="1" name=""/>
        <p:cNvGrpSpPr/>
        <p:nvPr/>
      </p:nvGrpSpPr>
      <p:grpSpPr>
        <a:xfrm>
          <a:off x="0" y="0"/>
          <a:ext cx="0" cy="0"/>
          <a:chOff x="0" y="0"/>
          <a:chExt cx="0" cy="0"/>
        </a:xfrm>
      </p:grpSpPr>
      <p:sp>
        <p:nvSpPr>
          <p:cNvPr id="2" name="Shape 0"/>
          <p:cNvSpPr/>
          <p:nvPr/>
        </p:nvSpPr>
        <p:spPr>
          <a:xfrm>
            <a:off x="8503920" y="-1645920"/>
            <a:ext cx="5943600" cy="5943600"/>
          </a:xfrm>
          <a:prstGeom prst="ellipse">
            <a:avLst/>
          </a:prstGeom>
          <a:solidFill>
            <a:srgbClr val="12213D"/>
          </a:solidFill>
          <a:ln/>
        </p:spPr>
      </p:sp>
      <p:sp>
        <p:nvSpPr>
          <p:cNvPr id="3" name="Shape 1"/>
          <p:cNvSpPr/>
          <p:nvPr/>
        </p:nvSpPr>
        <p:spPr>
          <a:xfrm>
            <a:off x="9418320" y="-731520"/>
            <a:ext cx="4114800" cy="4114800"/>
          </a:xfrm>
          <a:prstGeom prst="ellipse">
            <a:avLst/>
          </a:prstGeom>
          <a:ln w="15875">
            <a:solidFill>
              <a:srgbClr val="3A86FF"/>
            </a:solidFill>
            <a:prstDash val="solid"/>
          </a:ln>
        </p:spPr>
      </p:sp>
      <p:sp>
        <p:nvSpPr>
          <p:cNvPr id="4" name="Shape 2"/>
          <p:cNvSpPr/>
          <p:nvPr/>
        </p:nvSpPr>
        <p:spPr>
          <a:xfrm>
            <a:off x="10561320" y="411480"/>
            <a:ext cx="1828800" cy="1828800"/>
          </a:xfrm>
          <a:prstGeom prst="ellipse">
            <a:avLst/>
          </a:prstGeom>
          <a:solidFill>
            <a:srgbClr val="E63946"/>
          </a:solidFill>
          <a:ln/>
        </p:spPr>
      </p:sp>
      <p:sp>
        <p:nvSpPr>
          <p:cNvPr id="5" name="Text 3"/>
          <p:cNvSpPr/>
          <p:nvPr/>
        </p:nvSpPr>
        <p:spPr>
          <a:xfrm>
            <a:off x="640080" y="2651760"/>
            <a:ext cx="7315200" cy="10972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Text 4"/>
          <p:cNvSpPr/>
          <p:nvPr/>
        </p:nvSpPr>
        <p:spPr>
          <a:xfrm>
            <a:off x="640080" y="3611880"/>
            <a:ext cx="7315200" cy="54864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7" name="Shape 5"/>
          <p:cNvSpPr/>
          <p:nvPr/>
        </p:nvSpPr>
        <p:spPr>
          <a:xfrm>
            <a:off x="640080" y="4343400"/>
            <a:ext cx="2011680" cy="0"/>
          </a:xfrm>
          <a:prstGeom prst="line">
            <a:avLst/>
          </a:prstGeom>
          <a:noFill/>
          <a:ln w="38100">
            <a:solidFill>
              <a:srgbClr val="E63946"/>
            </a:solidFill>
            <a:prstDash val="solid"/>
          </a:ln>
        </p:spPr>
      </p:sp>
      <p:sp>
        <p:nvSpPr>
          <p:cNvPr id="8" name="Text 6"/>
          <p:cNvSpPr/>
          <p:nvPr/>
        </p:nvSpPr>
        <p:spPr>
          <a:xfrm>
            <a:off x="640080" y="4572000"/>
            <a:ext cx="8229600" cy="822960"/>
          </a:xfrm>
          <a:prstGeom prst="rect">
            <a:avLst/>
          </a:prstGeom>
          <a:noFill/>
          <a:ln/>
        </p:spPr>
        <p:txBody>
          <a:bodyPr wrap="square" lIns="0" tIns="0" rIns="0" bIns="0" rtlCol="0" anchor="ctr"/>
          <a:lstStyle/>
          <a:p>
            <a:pPr indent="0" marL="0">
              <a:lnSpc>
                <a:spcPct val="130000"/>
              </a:lnSpc>
              <a:buNone/>
            </a:pPr>
            <a:r>
              <a:rPr lang="en-US" sz="1400" b="1" dirty="0">
                <a:solidFill>
                  <a:srgbClr val="FFFFFF"/>
                </a:solidFill>
                <a:latin typeface="Calibri" pitchFamily="34" charset="0"/>
                <a:ea typeface="Calibri" pitchFamily="34" charset="-122"/>
                <a:cs typeface="Calibri" pitchFamily="34" charset="-120"/>
              </a:rPr>
              <a:t>Reelesh Ganesh Bhoyrub</a:t>
            </a:r>
            <a:endParaRPr lang="en-US" sz="1400" dirty="0"/>
          </a:p>
          <a:p>
            <a:pPr indent="0" marL="0">
              <a:lnSpc>
                <a:spcPct val="130000"/>
              </a:lnSpc>
              <a:buNone/>
            </a:pPr>
            <a:r>
              <a:rPr lang="en-US" sz="1400" dirty="0">
                <a:solidFill>
                  <a:srgbClr val="CADCFC"/>
                </a:solidFill>
                <a:latin typeface="Calibri" pitchFamily="34" charset="0"/>
                <a:ea typeface="Calibri" pitchFamily="34" charset="-122"/>
                <a:cs typeface="Calibri" pitchFamily="34" charset="-120"/>
              </a:rPr>
              <a:t>Cohort IoT 7  •  IoT-Based Home Security and Surveillance System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2026-07-15T06:58:45Z</dcterms:created>
  <dcterms:modified xsi:type="dcterms:W3CDTF">2026-07-15T06:58:45Z</dcterms:modified>
</cp:coreProperties>
</file>